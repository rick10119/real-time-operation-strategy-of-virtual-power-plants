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61" r:id="rId2"/>
  </p:sldMasterIdLst>
  <p:notesMasterIdLst>
    <p:notesMasterId r:id="rId8"/>
  </p:notesMasterIdLst>
  <p:handoutMasterIdLst>
    <p:handoutMasterId r:id="rId9"/>
  </p:handoutMasterIdLst>
  <p:sldIdLst>
    <p:sldId id="10706244" r:id="rId3"/>
    <p:sldId id="10706257" r:id="rId4"/>
    <p:sldId id="10706259" r:id="rId5"/>
    <p:sldId id="10706262" r:id="rId6"/>
    <p:sldId id="10706258" r:id="rId7"/>
  </p:sldIdLst>
  <p:sldSz cx="12192000" cy="6858000"/>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08AC3BA-46BD-4370-AEDF-B716B9ED7450}">
          <p14:sldIdLst>
            <p14:sldId id="10706244"/>
            <p14:sldId id="10706257"/>
            <p14:sldId id="10706259"/>
            <p14:sldId id="10706262"/>
            <p14:sldId id="10706258"/>
          </p14:sldIdLst>
        </p14:section>
      </p14:sectionLst>
    </p:ext>
    <p:ext uri="{EFAFB233-063F-42B5-8137-9DF3F51BA10A}">
      <p15:sldGuideLst xmlns:p15="http://schemas.microsoft.com/office/powerpoint/2012/main">
        <p15:guide id="1" pos="3848" userDrawn="1">
          <p15:clr>
            <a:srgbClr val="A4A3A4"/>
          </p15:clr>
        </p15:guide>
        <p15:guide id="2" orient="horz" pos="1815" userDrawn="1">
          <p15:clr>
            <a:srgbClr val="A4A3A4"/>
          </p15:clr>
        </p15:guide>
      </p15:sldGuideLst>
    </p:ext>
    <p:ext uri="{2D200454-40CA-4A62-9FC3-DE9A4176ACB9}">
      <p15:notesGuideLst xmlns:p15="http://schemas.microsoft.com/office/powerpoint/2012/main">
        <p15:guide id="1" orient="horz" pos="2851">
          <p15:clr>
            <a:srgbClr val="A4A3A4"/>
          </p15:clr>
        </p15:guide>
        <p15:guide id="2" pos="216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nkpad" initials="T" lastIdx="26" clrIdx="0"/>
  <p:cmAuthor id="2" name="Hongye Guo" initials="HY" lastIdx="109" clrIdx="1"/>
  <p:cmAuthor id="3" name="Li" initials="T"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372C2"/>
    <a:srgbClr val="FFC8D3"/>
    <a:srgbClr val="F07E31"/>
    <a:srgbClr val="FEE99D"/>
    <a:srgbClr val="C8EFCF"/>
    <a:srgbClr val="E9EBF5"/>
    <a:srgbClr val="F7E4FC"/>
    <a:srgbClr val="AB17D3"/>
    <a:srgbClr val="DEC9FB"/>
    <a:srgbClr val="580C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3425" autoAdjust="0"/>
  </p:normalViewPr>
  <p:slideViewPr>
    <p:cSldViewPr snapToGrid="0" showGuides="1">
      <p:cViewPr varScale="1">
        <p:scale>
          <a:sx n="91" d="100"/>
          <a:sy n="91" d="100"/>
        </p:scale>
        <p:origin x="1896" y="192"/>
      </p:cViewPr>
      <p:guideLst>
        <p:guide pos="3848"/>
        <p:guide orient="horz" pos="1815"/>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76" d="100"/>
          <a:sy n="76" d="100"/>
        </p:scale>
        <p:origin x="2620" y="48"/>
      </p:cViewPr>
      <p:guideLst>
        <p:guide orient="horz" pos="2851"/>
        <p:guide pos="216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 Target="slides/slide2.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2025/3/15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D84938-860B-40A8-9DE6-812BAC971F07}" type="datetimeFigureOut">
              <a:rPr lang="zh-CN" altLang="en-US" smtClean="0"/>
              <a:t>2025/3/15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2DB2CD-2A9E-4DF6-82E8-63C03AA850A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B73C29-3AF3-4C18-9864-AA02F60BA0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B73C29-3AF3-4C18-9864-AA02F60BA0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en-US" altLang="zh-CN" dirty="0"/>
              <a:t>The VPP originally operating at the baseline output point (blue dashed line). In order to achieve the required power adjustment for frequency regulation signals (green line), a two-step approach is employed. Firstly, based on the original resource operating costs (immediately incurred) and the opportunity cost of resource output adjustments derived from the optimal operation problem (influencing future profits), the marginal adjustment costs for each resource are calculated. Subsequently, within the constraints of resource output, the </a:t>
            </a:r>
            <a:r>
              <a:rPr lang="en-US" altLang="zh-CN" dirty="0" err="1"/>
              <a:t>utilisation</a:t>
            </a:r>
            <a:r>
              <a:rPr lang="en-US" altLang="zh-CN" dirty="0"/>
              <a:t> of low-cost resources is selectively invoked.</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B73C29-3AF3-4C18-9864-AA02F60BA0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B73C29-3AF3-4C18-9864-AA02F60BA0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B73C29-3AF3-4C18-9864-AA02F60BA0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318B10-8196-4784-9E3B-5DAD9A28A91B}" type="datetime1">
              <a:rPr kumimoji="0" lang="zh-CN" altLang="en-US" sz="1200" b="0" i="0" u="none" strike="noStrike" kern="1200" cap="none" spc="0" normalizeH="0" baseline="0" noProof="0" smtClean="0">
                <a:ln>
                  <a:noFill/>
                </a:ln>
                <a:solidFill>
                  <a:prstClr val="black">
                    <a:tint val="75000"/>
                  </a:prstClr>
                </a:solidFill>
                <a:effectLst/>
                <a:uLnTx/>
                <a:uFillTx/>
                <a:latin typeface="HelveticaExt-Normal"/>
                <a:cs typeface="+mn-cs"/>
              </a:rPr>
              <a:t>2025/3/15</a:t>
            </a:fld>
            <a:endParaRPr kumimoji="0" lang="zh-CN" altLang="en-US" sz="1200" b="0" i="0" u="none" strike="noStrike" kern="1200" cap="none" spc="0" normalizeH="0" baseline="0" noProof="0">
              <a:ln>
                <a:noFill/>
              </a:ln>
              <a:solidFill>
                <a:prstClr val="black">
                  <a:tint val="75000"/>
                </a:prstClr>
              </a:solidFill>
              <a:effectLst/>
              <a:uLnTx/>
              <a:uFillTx/>
              <a:latin typeface="HelveticaExt-Normal"/>
              <a:ea typeface="OPPOSans B"/>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HelveticaExt-Normal"/>
              <a:ea typeface="OPPOSans B"/>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latin typeface="HelveticaExt-Normal"/>
                <a:ea typeface="OPPOSans B"/>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HelveticaExt-Normal"/>
              <a:ea typeface="OPPOSans B"/>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3B315-F879-413F-8C30-D2614DDF3485}" type="datetime1">
              <a:rPr lang="zh-CN" altLang="en-US" smtClean="0"/>
              <a:t>2025/3/15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7EE5D8-6200-46CA-A960-1DA5B550D24A}" type="slidenum">
              <a:rPr lang="zh-CN" altLang="en-US" smtClean="0"/>
              <a:t>‹#›</a:t>
            </a:fld>
            <a:endParaRPr lang="zh-CN" altLang="en-US"/>
          </a:p>
        </p:txBody>
      </p:sp>
    </p:spTree>
  </p:cSld>
  <p:clrMap bg1="lt1" tx1="dk1" bg2="lt2" tx2="dk2" accent1="accent1" accent2="accent2" accent3="accent3" accent4="accent4" accent5="accent5" accent6="accent6" hlink="hlink" folHlink="folHlink"/>
  <p:transition spd="slow">
    <p:wip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0B9A4-EF5C-4BD8-AC2B-C1CF4CEEAD4E}" type="datetime1">
              <a:rPr lang="zh-CN" altLang="en-US" smtClean="0"/>
              <a:t>2025/3/15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7EE5D8-6200-46CA-A960-1DA5B550D24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Lst>
  <p:transition spd="slow">
    <p:wip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jpe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9.emf"/><Relationship Id="rId18" Type="http://schemas.openxmlformats.org/officeDocument/2006/relationships/image" Target="../media/image5.png"/><Relationship Id="rId3" Type="http://schemas.openxmlformats.org/officeDocument/2006/relationships/tags" Target="../tags/tag4.xml"/><Relationship Id="rId7" Type="http://schemas.openxmlformats.org/officeDocument/2006/relationships/image" Target="../media/image2.jpeg"/><Relationship Id="rId12" Type="http://schemas.openxmlformats.org/officeDocument/2006/relationships/oleObject" Target="../embeddings/oleObject2.bin"/><Relationship Id="rId17" Type="http://schemas.openxmlformats.org/officeDocument/2006/relationships/image" Target="../media/image10.png"/><Relationship Id="rId2" Type="http://schemas.openxmlformats.org/officeDocument/2006/relationships/tags" Target="../tags/tag3.xml"/><Relationship Id="rId16" Type="http://schemas.openxmlformats.org/officeDocument/2006/relationships/image" Target="../media/image6.png"/><Relationship Id="rId20" Type="http://schemas.openxmlformats.org/officeDocument/2006/relationships/image" Target="../media/image11.png"/><Relationship Id="rId1" Type="http://schemas.openxmlformats.org/officeDocument/2006/relationships/tags" Target="../tags/tag2.xml"/><Relationship Id="rId6" Type="http://schemas.openxmlformats.org/officeDocument/2006/relationships/image" Target="../media/image1.jpeg"/><Relationship Id="rId11" Type="http://schemas.openxmlformats.org/officeDocument/2006/relationships/image" Target="../media/image8.emf"/><Relationship Id="rId5" Type="http://schemas.openxmlformats.org/officeDocument/2006/relationships/notesSlide" Target="../notesSlides/notesSlide2.xml"/><Relationship Id="rId15" Type="http://schemas.openxmlformats.org/officeDocument/2006/relationships/image" Target="../media/image630.png"/><Relationship Id="rId10" Type="http://schemas.openxmlformats.org/officeDocument/2006/relationships/oleObject" Target="../embeddings/oleObject1.bin"/><Relationship Id="rId19" Type="http://schemas.openxmlformats.org/officeDocument/2006/relationships/image" Target="../media/image7.png"/><Relationship Id="rId4" Type="http://schemas.openxmlformats.org/officeDocument/2006/relationships/slideLayout" Target="../slideLayouts/slideLayout1.xml"/><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图片 168"/>
          <p:cNvPicPr>
            <a:picLocks noChangeAspect="1"/>
          </p:cNvPicPr>
          <p:nvPr/>
        </p:nvPicPr>
        <p:blipFill rotWithShape="1">
          <a:blip r:embed="rId3" cstate="screen"/>
          <a:srcRect r="-28"/>
          <a:stretch>
            <a:fillRect/>
          </a:stretch>
        </p:blipFill>
        <p:spPr>
          <a:xfrm flipH="1">
            <a:off x="5598767" y="-1"/>
            <a:ext cx="3326355" cy="995307"/>
          </a:xfrm>
          <a:prstGeom prst="rect">
            <a:avLst/>
          </a:prstGeom>
        </p:spPr>
      </p:pic>
      <p:pic>
        <p:nvPicPr>
          <p:cNvPr id="15" name="图片 14"/>
          <p:cNvPicPr>
            <a:picLocks noChangeAspect="1"/>
          </p:cNvPicPr>
          <p:nvPr/>
        </p:nvPicPr>
        <p:blipFill rotWithShape="1">
          <a:blip r:embed="rId4" cstate="screen"/>
          <a:srcRect/>
          <a:stretch>
            <a:fillRect/>
          </a:stretch>
        </p:blipFill>
        <p:spPr>
          <a:xfrm>
            <a:off x="8890933" y="0"/>
            <a:ext cx="3326355" cy="973859"/>
          </a:xfrm>
          <a:prstGeom prst="rect">
            <a:avLst/>
          </a:prstGeom>
        </p:spPr>
      </p:pic>
      <p:sp>
        <p:nvSpPr>
          <p:cNvPr id="78" name="矩形 77"/>
          <p:cNvSpPr/>
          <p:nvPr/>
        </p:nvSpPr>
        <p:spPr>
          <a:xfrm>
            <a:off x="0" y="0"/>
            <a:ext cx="12217288" cy="995306"/>
          </a:xfrm>
          <a:prstGeom prst="rect">
            <a:avLst/>
          </a:prstGeom>
          <a:gradFill flip="none" rotWithShape="1">
            <a:gsLst>
              <a:gs pos="54501">
                <a:srgbClr val="580C6E"/>
              </a:gs>
              <a:gs pos="73000">
                <a:srgbClr val="61106A">
                  <a:alpha val="90000"/>
                </a:srgbClr>
              </a:gs>
              <a:gs pos="84000">
                <a:srgbClr val="952064">
                  <a:alpha val="46000"/>
                </a:srgbClr>
              </a:gs>
              <a:gs pos="34845">
                <a:srgbClr val="580C6E"/>
              </a:gs>
              <a:gs pos="0">
                <a:srgbClr val="580C6E">
                  <a:lumMod val="100000"/>
                </a:srgbClr>
              </a:gs>
              <a:gs pos="100000">
                <a:srgbClr val="AC276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pic>
        <p:nvPicPr>
          <p:cNvPr id="170" name="图片 169"/>
          <p:cNvPicPr>
            <a:picLocks noChangeAspect="1"/>
          </p:cNvPicPr>
          <p:nvPr/>
        </p:nvPicPr>
        <p:blipFill>
          <a:blip r:embed="rId5" cstate="screen">
            <a:lum bright="70000" contrast="-70000"/>
            <a:extLst>
              <a:ext uri="{BEBA8EAE-BF5A-486C-A8C5-ECC9F3942E4B}">
                <a14:imgProps xmlns:a14="http://schemas.microsoft.com/office/drawing/2010/main">
                  <a14:imgLayer r:embed="rId6">
                    <a14:imgEffect>
                      <a14:brightnessContrast bright="12000" contrast="-40000"/>
                    </a14:imgEffect>
                    <a14:imgEffect>
                      <a14:saturation sat="0"/>
                    </a14:imgEffect>
                    <a14:imgEffect>
                      <a14:sharpenSoften amount="-50000"/>
                    </a14:imgEffect>
                  </a14:imgLayer>
                </a14:imgProps>
              </a:ext>
            </a:extLst>
          </a:blip>
          <a:stretch>
            <a:fillRect/>
          </a:stretch>
        </p:blipFill>
        <p:spPr>
          <a:xfrm>
            <a:off x="258641" y="125580"/>
            <a:ext cx="747562" cy="778934"/>
          </a:xfrm>
          <a:prstGeom prst="rect">
            <a:avLst/>
          </a:prstGeom>
          <a:ln>
            <a:solidFill>
              <a:srgbClr val="580C6E"/>
            </a:solidFill>
          </a:ln>
        </p:spPr>
      </p:pic>
      <p:sp>
        <p:nvSpPr>
          <p:cNvPr id="175" name="文本框 174"/>
          <p:cNvSpPr txBox="1"/>
          <p:nvPr/>
        </p:nvSpPr>
        <p:spPr>
          <a:xfrm>
            <a:off x="1006475" y="175260"/>
            <a:ext cx="10538460" cy="645160"/>
          </a:xfrm>
          <a:prstGeom prst="rect">
            <a:avLst/>
          </a:prstGeom>
          <a:noFill/>
        </p:spPr>
        <p:txBody>
          <a:bodyPr wrap="square" rtlCol="0">
            <a:spAutoFit/>
          </a:bodyPr>
          <a:lstStyle/>
          <a:p>
            <a:pPr lvl="0">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rPr>
              <a:t>4-Optimization with Heterogeneous Resources</a:t>
            </a:r>
          </a:p>
        </p:txBody>
      </p:sp>
      <p:sp>
        <p:nvSpPr>
          <p:cNvPr id="4" name="矩形 3"/>
          <p:cNvSpPr/>
          <p:nvPr/>
        </p:nvSpPr>
        <p:spPr>
          <a:xfrm>
            <a:off x="550202" y="1109719"/>
            <a:ext cx="11254968" cy="2042841"/>
          </a:xfrm>
          <a:prstGeom prst="rect">
            <a:avLst/>
          </a:prstGeom>
          <a:solidFill>
            <a:srgbClr val="F7E4FC"/>
          </a:solidFill>
          <a:ln w="9525">
            <a:noFill/>
            <a:prstDash val="dash"/>
          </a:ln>
          <a:effectLst/>
        </p:spPr>
        <p:txBody>
          <a:bodyPr wrap="square" lIns="144000" tIns="108000" rIns="144000" bIns="108000" anchor="ctr" anchorCtr="0">
            <a:noAutofit/>
          </a:bodyPr>
          <a:lstStyle/>
          <a:p>
            <a:pPr algn="just" hangingPunct="0">
              <a:lnSpc>
                <a:spcPct val="150000"/>
              </a:lnSpc>
              <a:buClr>
                <a:prstClr val="white">
                  <a:lumMod val="50000"/>
                </a:prstClr>
              </a:buClr>
              <a:buSzPct val="80000"/>
            </a:pPr>
            <a:r>
              <a:rPr lang="en-US" altLang="zh-CN" sz="2000" b="1" kern="0" dirty="0"/>
              <a:t>Motivation</a:t>
            </a:r>
            <a:r>
              <a:rPr lang="en-US" altLang="zh-CN" sz="2000" kern="0" dirty="0"/>
              <a:t>: when deploying regulation</a:t>
            </a:r>
            <a:r>
              <a:rPr lang="zh-CN" altLang="en-US" sz="2000" kern="0" dirty="0"/>
              <a:t> </a:t>
            </a:r>
            <a:r>
              <a:rPr lang="en-US" altLang="zh-CN" sz="2000" kern="0" dirty="0"/>
              <a:t>services, the VPP </a:t>
            </a:r>
            <a:r>
              <a:rPr lang="en-US" altLang="zh-CN" sz="2000" b="1" kern="0" dirty="0">
                <a:solidFill>
                  <a:srgbClr val="7030A0"/>
                </a:solidFill>
              </a:rPr>
              <a:t>disaggregates the requested power adjustment</a:t>
            </a:r>
            <a:r>
              <a:rPr lang="zh-CN" altLang="en-US" sz="2000" b="1" kern="0" dirty="0">
                <a:solidFill>
                  <a:srgbClr val="7030A0"/>
                </a:solidFill>
              </a:rPr>
              <a:t> </a:t>
            </a:r>
            <a:r>
              <a:rPr lang="en-US" altLang="zh-CN" sz="2000" b="1" kern="0" dirty="0">
                <a:solidFill>
                  <a:srgbClr val="7030A0"/>
                </a:solidFill>
              </a:rPr>
              <a:t>signals</a:t>
            </a:r>
            <a:r>
              <a:rPr lang="en-US" altLang="zh-CN" sz="2000" kern="0" dirty="0"/>
              <a:t> in real time among its </a:t>
            </a:r>
            <a:r>
              <a:rPr lang="en-US" altLang="zh-CN" sz="2000" b="1" kern="0" dirty="0">
                <a:solidFill>
                  <a:srgbClr val="7030A0"/>
                </a:solidFill>
              </a:rPr>
              <a:t>internal heterogeneous resources</a:t>
            </a:r>
            <a:r>
              <a:rPr lang="en-US" altLang="zh-CN" sz="2000" kern="0" dirty="0"/>
              <a:t>. Achieving optimal power disaggregation is challenging due to the </a:t>
            </a:r>
            <a:r>
              <a:rPr lang="en-US" altLang="zh-CN" sz="2000" b="1" kern="0" dirty="0">
                <a:solidFill>
                  <a:srgbClr val="7030A0"/>
                </a:solidFill>
              </a:rPr>
              <a:t>temporal coupling characteristics </a:t>
            </a:r>
            <a:r>
              <a:rPr lang="en-US" altLang="zh-CN" sz="2000" kern="0" dirty="0"/>
              <a:t>of the resources. Existing research relies on </a:t>
            </a:r>
            <a:r>
              <a:rPr lang="en-US" altLang="zh-CN" sz="2000" b="1" kern="0" dirty="0">
                <a:solidFill>
                  <a:srgbClr val="7030A0"/>
                </a:solidFill>
              </a:rPr>
              <a:t>proportional disaggregation</a:t>
            </a:r>
            <a:r>
              <a:rPr lang="en-US" altLang="zh-CN" sz="2000" kern="0" dirty="0"/>
              <a:t>, which is far from optimal.</a:t>
            </a:r>
            <a:endParaRPr lang="zh-CN" altLang="en-US" sz="2000" kern="0" dirty="0"/>
          </a:p>
        </p:txBody>
      </p:sp>
      <p:sp>
        <p:nvSpPr>
          <p:cNvPr id="10" name="灯片编号占位符 1"/>
          <p:cNvSpPr>
            <a:spLocks noGrp="1"/>
          </p:cNvSpPr>
          <p:nvPr>
            <p:ph type="sldNum" sz="quarter" idx="12"/>
          </p:nvPr>
        </p:nvSpPr>
        <p:spPr>
          <a:xfrm>
            <a:off x="9324232" y="64835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latin typeface="HelveticaExt-Normal"/>
                <a:ea typeface="OPPOSans B"/>
                <a:cs typeface="+mn-cs"/>
              </a:rPr>
              <a:t>1</a:t>
            </a:fld>
            <a:endParaRPr kumimoji="0" lang="zh-CN" altLang="en-US" sz="1200" b="0" i="0" u="none" strike="noStrike" kern="1200" cap="none" spc="0" normalizeH="0" baseline="0" noProof="0" dirty="0">
              <a:ln>
                <a:noFill/>
              </a:ln>
              <a:solidFill>
                <a:prstClr val="black">
                  <a:tint val="75000"/>
                </a:prstClr>
              </a:solidFill>
              <a:effectLst/>
              <a:uLnTx/>
              <a:uFillTx/>
              <a:latin typeface="HelveticaExt-Normal"/>
              <a:ea typeface="OPPOSans B"/>
              <a:cs typeface="+mn-cs"/>
            </a:endParaRPr>
          </a:p>
        </p:txBody>
      </p:sp>
      <p:pic>
        <p:nvPicPr>
          <p:cNvPr id="22" name="图片 21"/>
          <p:cNvPicPr>
            <a:picLocks noChangeAspect="1"/>
          </p:cNvPicPr>
          <p:nvPr/>
        </p:nvPicPr>
        <p:blipFill rotWithShape="1">
          <a:blip r:embed="rId7"/>
          <a:srcRect r="19417"/>
          <a:stretch>
            <a:fillRect/>
          </a:stretch>
        </p:blipFill>
        <p:spPr>
          <a:xfrm>
            <a:off x="730412" y="3636430"/>
            <a:ext cx="5687166" cy="2656565"/>
          </a:xfrm>
          <a:prstGeom prst="rect">
            <a:avLst/>
          </a:prstGeom>
        </p:spPr>
      </p:pic>
      <p:cxnSp>
        <p:nvCxnSpPr>
          <p:cNvPr id="23" name="直接连接符 22"/>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8247871" y="3223170"/>
            <a:ext cx="3557300" cy="142990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3" name="矩形 32"/>
          <p:cNvSpPr/>
          <p:nvPr/>
        </p:nvSpPr>
        <p:spPr>
          <a:xfrm>
            <a:off x="8247871" y="3345244"/>
            <a:ext cx="3655098" cy="1200329"/>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charset="-122"/>
                <a:cs typeface="Times New Roman" panose="02020603050405020304" pitchFamily="18" charset="0"/>
              </a:rPr>
              <a:t>Intuition: optimally</a:t>
            </a:r>
            <a:r>
              <a:rPr lang="zh-CN" altLang="en-US" sz="2400" dirty="0">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rPr>
              <a:t>allocate discharging power to resources with lower costs!</a:t>
            </a:r>
            <a:endParaRPr lang="zh-CN" altLang="en-US" sz="2400" dirty="0">
              <a:latin typeface="Times New Roman" panose="02020603050405020304" pitchFamily="18" charset="0"/>
              <a:cs typeface="Times New Roman" panose="02020603050405020304" pitchFamily="18" charset="0"/>
            </a:endParaRPr>
          </a:p>
        </p:txBody>
      </p:sp>
      <p:grpSp>
        <p:nvGrpSpPr>
          <p:cNvPr id="35" name="组合 34"/>
          <p:cNvGrpSpPr/>
          <p:nvPr/>
        </p:nvGrpSpPr>
        <p:grpSpPr>
          <a:xfrm>
            <a:off x="8247871" y="4777013"/>
            <a:ext cx="3819561" cy="1429908"/>
            <a:chOff x="7919067" y="3602147"/>
            <a:chExt cx="3886103" cy="1429908"/>
          </a:xfrm>
        </p:grpSpPr>
        <p:sp>
          <p:nvSpPr>
            <p:cNvPr id="36" name="矩形 35"/>
            <p:cNvSpPr/>
            <p:nvPr/>
          </p:nvSpPr>
          <p:spPr>
            <a:xfrm>
              <a:off x="7919067" y="3602147"/>
              <a:ext cx="3619273" cy="142990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7963847" y="3700730"/>
              <a:ext cx="3841323" cy="1200329"/>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charset="-122"/>
                  <a:cs typeface="Times New Roman" panose="02020603050405020304" pitchFamily="18" charset="0"/>
                </a:rPr>
                <a:t>Can</a:t>
              </a:r>
              <a:r>
                <a:rPr lang="zh-CN" altLang="en-US" sz="2400" dirty="0">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rPr>
                <a:t>we</a:t>
              </a:r>
              <a:r>
                <a:rPr lang="zh-CN" altLang="en-US" sz="2400" dirty="0">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rPr>
                <a:t>always allocate discharging power to resources with lower costs?</a:t>
              </a:r>
              <a:endParaRPr lang="zh-CN" altLang="en-US" sz="2400" dirty="0">
                <a:latin typeface="Times New Roman" panose="02020603050405020304" pitchFamily="18" charset="0"/>
                <a:cs typeface="Times New Roman" panose="02020603050405020304" pitchFamily="18" charset="0"/>
              </a:endParaRPr>
            </a:p>
          </p:txBody>
        </p:sp>
      </p:grpSp>
      <p:sp>
        <p:nvSpPr>
          <p:cNvPr id="38" name="文本框 37"/>
          <p:cNvSpPr txBox="1"/>
          <p:nvPr/>
        </p:nvSpPr>
        <p:spPr>
          <a:xfrm>
            <a:off x="1702965" y="4186582"/>
            <a:ext cx="1602490" cy="369332"/>
          </a:xfrm>
          <a:prstGeom prst="rect">
            <a:avLst/>
          </a:prstGeom>
          <a:noFill/>
        </p:spPr>
        <p:txBody>
          <a:bodyPr wrap="none" rtlCol="0">
            <a:spAutoFit/>
          </a:bodyPr>
          <a:lstStyle/>
          <a:p>
            <a:r>
              <a:rPr lang="en-US" altLang="zh-CN" dirty="0"/>
              <a:t>Reduce 15 kW!</a:t>
            </a:r>
            <a:endParaRPr lang="zh-CN" altLang="en-US" dirty="0"/>
          </a:p>
        </p:txBody>
      </p:sp>
      <p:sp>
        <p:nvSpPr>
          <p:cNvPr id="39" name="文本框 38"/>
          <p:cNvSpPr txBox="1"/>
          <p:nvPr/>
        </p:nvSpPr>
        <p:spPr>
          <a:xfrm>
            <a:off x="5498178" y="5739912"/>
            <a:ext cx="1011815" cy="369332"/>
          </a:xfrm>
          <a:prstGeom prst="rect">
            <a:avLst/>
          </a:prstGeom>
          <a:noFill/>
        </p:spPr>
        <p:txBody>
          <a:bodyPr wrap="none" rtlCol="0">
            <a:spAutoFit/>
          </a:bodyPr>
          <a:lstStyle/>
          <a:p>
            <a:r>
              <a:rPr lang="en-US" altLang="zh-CN" dirty="0"/>
              <a:t>- 15 kW</a:t>
            </a:r>
            <a:r>
              <a:rPr lang="en-US" altLang="zh-CN" b="1" dirty="0"/>
              <a:t>?</a:t>
            </a:r>
            <a:endParaRPr lang="zh-CN" altLang="en-US" b="1" dirty="0"/>
          </a:p>
        </p:txBody>
      </p:sp>
      <p:cxnSp>
        <p:nvCxnSpPr>
          <p:cNvPr id="40" name="连接符: 曲线 39"/>
          <p:cNvCxnSpPr/>
          <p:nvPr/>
        </p:nvCxnSpPr>
        <p:spPr>
          <a:xfrm>
            <a:off x="3305455" y="4371248"/>
            <a:ext cx="2197723" cy="155333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图片 40"/>
          <p:cNvPicPr>
            <a:picLocks noChangeAspect="1"/>
          </p:cNvPicPr>
          <p:nvPr/>
        </p:nvPicPr>
        <p:blipFill>
          <a:blip r:embed="rId8"/>
          <a:stretch>
            <a:fillRect/>
          </a:stretch>
        </p:blipFill>
        <p:spPr>
          <a:xfrm>
            <a:off x="6417578" y="3396804"/>
            <a:ext cx="1328152" cy="718509"/>
          </a:xfrm>
          <a:prstGeom prst="rect">
            <a:avLst/>
          </a:prstGeom>
        </p:spPr>
      </p:pic>
      <p:sp>
        <p:nvSpPr>
          <p:cNvPr id="42" name="文本框 41"/>
          <p:cNvSpPr txBox="1"/>
          <p:nvPr/>
        </p:nvSpPr>
        <p:spPr>
          <a:xfrm>
            <a:off x="7740159" y="3569527"/>
            <a:ext cx="513282"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PV</a:t>
            </a:r>
            <a:endParaRPr lang="zh-CN" altLang="en-US" sz="2000" dirty="0">
              <a:latin typeface="Times New Roman" panose="02020603050405020304" pitchFamily="18" charset="0"/>
              <a:cs typeface="Times New Roman" panose="02020603050405020304" pitchFamily="18" charset="0"/>
            </a:endParaRPr>
          </a:p>
        </p:txBody>
      </p:sp>
      <p:pic>
        <p:nvPicPr>
          <p:cNvPr id="43" name="图片 42"/>
          <p:cNvPicPr>
            <a:picLocks noChangeAspect="1"/>
          </p:cNvPicPr>
          <p:nvPr/>
        </p:nvPicPr>
        <p:blipFill>
          <a:blip r:embed="rId9"/>
          <a:stretch>
            <a:fillRect/>
          </a:stretch>
        </p:blipFill>
        <p:spPr>
          <a:xfrm>
            <a:off x="6488900" y="4172220"/>
            <a:ext cx="1177158" cy="914486"/>
          </a:xfrm>
          <a:prstGeom prst="rect">
            <a:avLst/>
          </a:prstGeom>
        </p:spPr>
      </p:pic>
      <p:sp>
        <p:nvSpPr>
          <p:cNvPr id="46" name="文本框 45"/>
          <p:cNvSpPr txBox="1"/>
          <p:nvPr/>
        </p:nvSpPr>
        <p:spPr>
          <a:xfrm>
            <a:off x="7723402" y="4451205"/>
            <a:ext cx="554960"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IPP</a:t>
            </a:r>
            <a:endParaRPr lang="zh-CN" altLang="en-US" sz="2000" dirty="0">
              <a:latin typeface="Times New Roman" panose="02020603050405020304" pitchFamily="18" charset="0"/>
              <a:cs typeface="Times New Roman" panose="02020603050405020304" pitchFamily="18" charset="0"/>
            </a:endParaRPr>
          </a:p>
        </p:txBody>
      </p:sp>
      <p:pic>
        <p:nvPicPr>
          <p:cNvPr id="47" name="图片 46"/>
          <p:cNvPicPr>
            <a:picLocks noChangeAspect="1"/>
          </p:cNvPicPr>
          <p:nvPr/>
        </p:nvPicPr>
        <p:blipFill>
          <a:blip r:embed="rId10"/>
          <a:stretch>
            <a:fillRect/>
          </a:stretch>
        </p:blipFill>
        <p:spPr>
          <a:xfrm>
            <a:off x="6649310" y="5214830"/>
            <a:ext cx="729621" cy="709748"/>
          </a:xfrm>
          <a:prstGeom prst="rect">
            <a:avLst/>
          </a:prstGeom>
        </p:spPr>
      </p:pic>
      <p:sp>
        <p:nvSpPr>
          <p:cNvPr id="50" name="文本框 49"/>
          <p:cNvSpPr txBox="1"/>
          <p:nvPr/>
        </p:nvSpPr>
        <p:spPr>
          <a:xfrm>
            <a:off x="7620865" y="5339802"/>
            <a:ext cx="484428"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ES</a:t>
            </a:r>
            <a:endParaRPr lang="zh-CN" altLang="en-US" sz="2000" dirty="0">
              <a:latin typeface="Times New Roman" panose="02020603050405020304" pitchFamily="18" charset="0"/>
              <a:cs typeface="Times New Roman" panose="02020603050405020304" pitchFamily="18" charset="0"/>
            </a:endParaRPr>
          </a:p>
        </p:txBody>
      </p:sp>
      <p:sp>
        <p:nvSpPr>
          <p:cNvPr id="51" name="文本框 50"/>
          <p:cNvSpPr txBox="1"/>
          <p:nvPr/>
        </p:nvSpPr>
        <p:spPr>
          <a:xfrm rot="5400000">
            <a:off x="6756627" y="5976821"/>
            <a:ext cx="441146"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图片 168"/>
          <p:cNvPicPr>
            <a:picLocks noChangeAspect="1"/>
          </p:cNvPicPr>
          <p:nvPr/>
        </p:nvPicPr>
        <p:blipFill rotWithShape="1">
          <a:blip r:embed="rId6" cstate="screen"/>
          <a:srcRect r="-28"/>
          <a:stretch>
            <a:fillRect/>
          </a:stretch>
        </p:blipFill>
        <p:spPr>
          <a:xfrm flipH="1">
            <a:off x="5598767" y="-1"/>
            <a:ext cx="3326355" cy="995307"/>
          </a:xfrm>
          <a:prstGeom prst="rect">
            <a:avLst/>
          </a:prstGeom>
        </p:spPr>
      </p:pic>
      <p:pic>
        <p:nvPicPr>
          <p:cNvPr id="15" name="图片 14"/>
          <p:cNvPicPr>
            <a:picLocks noChangeAspect="1"/>
          </p:cNvPicPr>
          <p:nvPr/>
        </p:nvPicPr>
        <p:blipFill rotWithShape="1">
          <a:blip r:embed="rId7" cstate="screen"/>
          <a:srcRect/>
          <a:stretch>
            <a:fillRect/>
          </a:stretch>
        </p:blipFill>
        <p:spPr>
          <a:xfrm>
            <a:off x="8890933" y="0"/>
            <a:ext cx="3326355" cy="973859"/>
          </a:xfrm>
          <a:prstGeom prst="rect">
            <a:avLst/>
          </a:prstGeom>
        </p:spPr>
      </p:pic>
      <p:sp>
        <p:nvSpPr>
          <p:cNvPr id="78" name="矩形 77"/>
          <p:cNvSpPr/>
          <p:nvPr/>
        </p:nvSpPr>
        <p:spPr>
          <a:xfrm>
            <a:off x="0" y="0"/>
            <a:ext cx="12217288" cy="995306"/>
          </a:xfrm>
          <a:prstGeom prst="rect">
            <a:avLst/>
          </a:prstGeom>
          <a:gradFill flip="none" rotWithShape="1">
            <a:gsLst>
              <a:gs pos="54501">
                <a:srgbClr val="580C6E"/>
              </a:gs>
              <a:gs pos="73000">
                <a:srgbClr val="61106A">
                  <a:alpha val="90000"/>
                </a:srgbClr>
              </a:gs>
              <a:gs pos="84000">
                <a:srgbClr val="952064">
                  <a:alpha val="46000"/>
                </a:srgbClr>
              </a:gs>
              <a:gs pos="34845">
                <a:srgbClr val="580C6E"/>
              </a:gs>
              <a:gs pos="0">
                <a:srgbClr val="580C6E">
                  <a:lumMod val="100000"/>
                </a:srgbClr>
              </a:gs>
              <a:gs pos="100000">
                <a:srgbClr val="AC276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pic>
        <p:nvPicPr>
          <p:cNvPr id="170" name="图片 169"/>
          <p:cNvPicPr>
            <a:picLocks noChangeAspect="1"/>
          </p:cNvPicPr>
          <p:nvPr/>
        </p:nvPicPr>
        <p:blipFill>
          <a:blip r:embed="rId8" cstate="screen">
            <a:lum bright="70000" contrast="-70000"/>
            <a:extLst>
              <a:ext uri="{BEBA8EAE-BF5A-486C-A8C5-ECC9F3942E4B}">
                <a14:imgProps xmlns:a14="http://schemas.microsoft.com/office/drawing/2010/main">
                  <a14:imgLayer r:embed="rId9">
                    <a14:imgEffect>
                      <a14:brightnessContrast bright="12000" contrast="-40000"/>
                    </a14:imgEffect>
                    <a14:imgEffect>
                      <a14:saturation sat="0"/>
                    </a14:imgEffect>
                    <a14:imgEffect>
                      <a14:sharpenSoften amount="-50000"/>
                    </a14:imgEffect>
                  </a14:imgLayer>
                </a14:imgProps>
              </a:ext>
            </a:extLst>
          </a:blip>
          <a:stretch>
            <a:fillRect/>
          </a:stretch>
        </p:blipFill>
        <p:spPr>
          <a:xfrm>
            <a:off x="258641" y="125580"/>
            <a:ext cx="747562" cy="778934"/>
          </a:xfrm>
          <a:prstGeom prst="rect">
            <a:avLst/>
          </a:prstGeom>
          <a:ln>
            <a:solidFill>
              <a:srgbClr val="580C6E"/>
            </a:solidFill>
          </a:ln>
        </p:spPr>
      </p:pic>
      <p:sp>
        <p:nvSpPr>
          <p:cNvPr id="4" name="矩形 3"/>
          <p:cNvSpPr/>
          <p:nvPr/>
        </p:nvSpPr>
        <p:spPr>
          <a:xfrm>
            <a:off x="431074" y="1384665"/>
            <a:ext cx="11443063" cy="1572618"/>
          </a:xfrm>
          <a:prstGeom prst="rect">
            <a:avLst/>
          </a:prstGeom>
          <a:solidFill>
            <a:srgbClr val="F7E4FC"/>
          </a:solidFill>
          <a:ln w="9525">
            <a:noFill/>
            <a:prstDash val="dash"/>
          </a:ln>
          <a:effectLst/>
        </p:spPr>
        <p:txBody>
          <a:bodyPr wrap="square" lIns="144000" tIns="108000" rIns="144000" bIns="108000" anchor="ctr" anchorCtr="0">
            <a:noAutofit/>
          </a:bodyPr>
          <a:lstStyle/>
          <a:p>
            <a:pPr algn="just" hangingPunct="0">
              <a:lnSpc>
                <a:spcPct val="150000"/>
              </a:lnSpc>
              <a:buClr>
                <a:prstClr val="white">
                  <a:lumMod val="50000"/>
                </a:prstClr>
              </a:buClr>
              <a:buSzPct val="80000"/>
            </a:pPr>
            <a:r>
              <a:rPr lang="en-US" altLang="zh-CN" sz="2000" b="1" dirty="0">
                <a:latin typeface="微软雅黑" panose="020B0503020204020204" charset="-122"/>
                <a:ea typeface="微软雅黑" panose="020B0503020204020204" charset="-122"/>
              </a:rPr>
              <a:t>Method (step1</a:t>
            </a:r>
            <a:r>
              <a:rPr lang="en-US" altLang="zh-CN" sz="2000" dirty="0">
                <a:latin typeface="微软雅黑" panose="020B0503020204020204" charset="-122"/>
                <a:ea typeface="微软雅黑" panose="020B0503020204020204" charset="-122"/>
              </a:rPr>
              <a:t>) : Establish a standardized VPP internal resource operation model, </a:t>
            </a:r>
            <a:r>
              <a:rPr lang="en-US" altLang="zh-CN" sz="2000" b="1" dirty="0">
                <a:latin typeface="微软雅黑" panose="020B0503020204020204" charset="-122"/>
                <a:ea typeface="微软雅黑" panose="020B0503020204020204" charset="-122"/>
              </a:rPr>
              <a:t>using one set of models to describe the operation of various resources,</a:t>
            </a:r>
            <a:r>
              <a:rPr lang="en-US" altLang="zh-CN" sz="2000" dirty="0">
                <a:latin typeface="微软雅黑" panose="020B0503020204020204" charset="-122"/>
                <a:ea typeface="微软雅黑" panose="020B0503020204020204" charset="-122"/>
              </a:rPr>
              <a:t> such as industrial production processes, air conditioning system, electric vehicle, energy storage.</a:t>
            </a:r>
            <a:endParaRPr lang="zh-CN" altLang="en-US" sz="2000" dirty="0">
              <a:latin typeface="微软雅黑" panose="020B0503020204020204" charset="-122"/>
              <a:ea typeface="微软雅黑" panose="020B0503020204020204" charset="-122"/>
            </a:endParaRPr>
          </a:p>
        </p:txBody>
      </p:sp>
      <p:sp>
        <p:nvSpPr>
          <p:cNvPr id="10" name="灯片编号占位符 1"/>
          <p:cNvSpPr>
            <a:spLocks noGrp="1"/>
          </p:cNvSpPr>
          <p:nvPr>
            <p:ph type="sldNum" sz="quarter" idx="12"/>
          </p:nvPr>
        </p:nvSpPr>
        <p:spPr>
          <a:xfrm>
            <a:off x="9324232" y="64835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latin typeface="HelveticaExt-Normal"/>
                <a:ea typeface="OPPOSans B"/>
                <a:cs typeface="+mn-cs"/>
              </a:rPr>
              <a:t>2</a:t>
            </a:fld>
            <a:endParaRPr kumimoji="0" lang="zh-CN" altLang="en-US" sz="1200" b="0" i="0" u="none" strike="noStrike" kern="1200" cap="none" spc="0" normalizeH="0" baseline="0" noProof="0" dirty="0">
              <a:ln>
                <a:noFill/>
              </a:ln>
              <a:solidFill>
                <a:prstClr val="black">
                  <a:tint val="75000"/>
                </a:prstClr>
              </a:solidFill>
              <a:effectLst/>
              <a:uLnTx/>
              <a:uFillTx/>
              <a:latin typeface="HelveticaExt-Normal"/>
              <a:ea typeface="OPPOSans B"/>
              <a:cs typeface="+mn-cs"/>
            </a:endParaRPr>
          </a:p>
        </p:txBody>
      </p:sp>
      <p:sp>
        <p:nvSpPr>
          <p:cNvPr id="22" name="矩形 21"/>
          <p:cNvSpPr/>
          <p:nvPr/>
        </p:nvSpPr>
        <p:spPr>
          <a:xfrm>
            <a:off x="535191" y="6119787"/>
            <a:ext cx="4538346" cy="658194"/>
          </a:xfrm>
          <a:prstGeom prst="rect">
            <a:avLst/>
          </a:prstGeom>
        </p:spPr>
        <p:txBody>
          <a:bodyPr wrap="square">
            <a:spAutoFit/>
          </a:bodyPr>
          <a:lstStyle/>
          <a:p>
            <a:pPr algn="ctr">
              <a:lnSpc>
                <a:spcPct val="120000"/>
              </a:lnSpc>
              <a:defRPr/>
            </a:pPr>
            <a:r>
              <a:rPr lang="en-US" altLang="zh-CN" sz="1600" b="1" dirty="0">
                <a:solidFill>
                  <a:schemeClr val="tx1"/>
                </a:solidFill>
                <a:latin typeface="微软雅黑" panose="020B0503020204020204" charset="-122"/>
                <a:ea typeface="微软雅黑" panose="020B0503020204020204" charset="-122"/>
                <a:cs typeface="Aparajita" panose="020B0604020202020204" pitchFamily="34" charset="0"/>
              </a:rPr>
              <a:t>Standardized operating model </a:t>
            </a:r>
          </a:p>
          <a:p>
            <a:pPr algn="ctr">
              <a:lnSpc>
                <a:spcPct val="120000"/>
              </a:lnSpc>
              <a:defRPr/>
            </a:pPr>
            <a:r>
              <a:rPr lang="en-US" altLang="zh-CN" sz="1600" b="1" dirty="0">
                <a:solidFill>
                  <a:schemeClr val="tx1"/>
                </a:solidFill>
                <a:latin typeface="微软雅黑" panose="020B0503020204020204" charset="-122"/>
                <a:ea typeface="微软雅黑" panose="020B0503020204020204" charset="-122"/>
                <a:cs typeface="Aparajita" panose="020B0604020202020204" pitchFamily="34" charset="0"/>
              </a:rPr>
              <a:t>for VPP internal resources</a:t>
            </a:r>
          </a:p>
        </p:txBody>
      </p:sp>
      <p:graphicFrame>
        <p:nvGraphicFramePr>
          <p:cNvPr id="23" name="表格 22"/>
          <p:cNvGraphicFramePr>
            <a:graphicFrameLocks noGrp="1"/>
          </p:cNvGraphicFramePr>
          <p:nvPr>
            <p:custDataLst>
              <p:tags r:id="rId1"/>
            </p:custDataLst>
          </p:nvPr>
        </p:nvGraphicFramePr>
        <p:xfrm>
          <a:off x="535191" y="3205708"/>
          <a:ext cx="4538345" cy="2902585"/>
        </p:xfrm>
        <a:graphic>
          <a:graphicData uri="http://schemas.openxmlformats.org/drawingml/2006/table">
            <a:tbl>
              <a:tblPr firstRow="1" bandRow="1">
                <a:tableStyleId>{5C22544A-7EE6-4342-B048-85BDC9FD1C3A}</a:tableStyleId>
              </a:tblPr>
              <a:tblGrid>
                <a:gridCol w="3194685">
                  <a:extLst>
                    <a:ext uri="{9D8B030D-6E8A-4147-A177-3AD203B41FA5}">
                      <a16:colId xmlns:a16="http://schemas.microsoft.com/office/drawing/2014/main" val="20000"/>
                    </a:ext>
                  </a:extLst>
                </a:gridCol>
                <a:gridCol w="1343660">
                  <a:extLst>
                    <a:ext uri="{9D8B030D-6E8A-4147-A177-3AD203B41FA5}">
                      <a16:colId xmlns:a16="http://schemas.microsoft.com/office/drawing/2014/main" val="20001"/>
                    </a:ext>
                  </a:extLst>
                </a:gridCol>
              </a:tblGrid>
              <a:tr h="648970">
                <a:tc>
                  <a:txBody>
                    <a:bodyPr/>
                    <a:lstStyle/>
                    <a:p>
                      <a:endParaRPr lang="zh-CN" altLang="en-US"/>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charset="-122"/>
                          <a:ea typeface="微软雅黑" panose="020B0503020204020204" charset="-122"/>
                          <a:cs typeface="Aparajita" panose="020B0604020202020204" pitchFamily="34" charset="0"/>
                        </a:rPr>
                        <a:t>Power limit</a:t>
                      </a:r>
                    </a:p>
                  </a:txBody>
                  <a:tcPr anchor="ctr">
                    <a:solidFill>
                      <a:srgbClr val="E9EBF5"/>
                    </a:solidFill>
                  </a:tcPr>
                </a:tc>
                <a:extLst>
                  <a:ext uri="{0D108BD9-81ED-4DB2-BD59-A6C34878D82A}">
                    <a16:rowId xmlns:a16="http://schemas.microsoft.com/office/drawing/2014/main" val="10000"/>
                  </a:ext>
                </a:extLst>
              </a:tr>
              <a:tr h="411480">
                <a:tc>
                  <a:txBody>
                    <a:bodyPr/>
                    <a:lstStyle/>
                    <a:p>
                      <a:endParaRPr lang="zh-CN" altLang="en-US" dirty="0"/>
                    </a:p>
                  </a:txBody>
                  <a:tcPr anchor="ctr">
                    <a:solidFill>
                      <a:srgbClr val="E9EBF5"/>
                    </a:solidFill>
                  </a:tcPr>
                </a:tc>
                <a:tc>
                  <a:txBody>
                    <a:bodyPr/>
                    <a:lstStyle/>
                    <a:p>
                      <a:pPr>
                        <a:lnSpc>
                          <a:spcPct val="120000"/>
                        </a:lnSpc>
                        <a:defRPr/>
                      </a:pPr>
                      <a:r>
                        <a:rPr lang="en-US" altLang="zh-CN" sz="1600" b="0" dirty="0">
                          <a:solidFill>
                            <a:schemeClr val="tx1"/>
                          </a:solidFill>
                          <a:latin typeface="微软雅黑" panose="020B0503020204020204" charset="-122"/>
                          <a:ea typeface="微软雅黑" panose="020B0503020204020204" charset="-122"/>
                          <a:cs typeface="Aparajita" panose="020B0604020202020204" pitchFamily="34" charset="0"/>
                        </a:rPr>
                        <a:t>State limit</a:t>
                      </a:r>
                    </a:p>
                  </a:txBody>
                  <a:tcPr anchor="ctr">
                    <a:solidFill>
                      <a:srgbClr val="E9EBF5"/>
                    </a:solidFill>
                  </a:tcPr>
                </a:tc>
                <a:extLst>
                  <a:ext uri="{0D108BD9-81ED-4DB2-BD59-A6C34878D82A}">
                    <a16:rowId xmlns:a16="http://schemas.microsoft.com/office/drawing/2014/main" val="10001"/>
                  </a:ext>
                </a:extLst>
              </a:tr>
              <a:tr h="870585">
                <a:tc>
                  <a:txBody>
                    <a:bodyPr/>
                    <a:lstStyle/>
                    <a:p>
                      <a:endParaRPr lang="zh-CN" altLang="en-US" dirty="0"/>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charset="-122"/>
                          <a:ea typeface="微软雅黑" panose="020B0503020204020204" charset="-122"/>
                          <a:cs typeface="Aparajita" panose="020B0604020202020204" pitchFamily="34" charset="0"/>
                        </a:rPr>
                        <a:t>State change</a:t>
                      </a:r>
                    </a:p>
                  </a:txBody>
                  <a:tcPr anchor="ctr">
                    <a:solidFill>
                      <a:srgbClr val="E9EBF5"/>
                    </a:solidFill>
                  </a:tcPr>
                </a:tc>
                <a:extLst>
                  <a:ext uri="{0D108BD9-81ED-4DB2-BD59-A6C34878D82A}">
                    <a16:rowId xmlns:a16="http://schemas.microsoft.com/office/drawing/2014/main" val="10002"/>
                  </a:ext>
                </a:extLst>
              </a:tr>
              <a:tr h="392430">
                <a:tc>
                  <a:txBody>
                    <a:bodyPr/>
                    <a:lstStyle/>
                    <a:p>
                      <a:endParaRPr lang="zh-CN" altLang="en-US"/>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charset="-122"/>
                          <a:ea typeface="微软雅黑" panose="020B0503020204020204" charset="-122"/>
                          <a:cs typeface="Aparajita" panose="020B0604020202020204" pitchFamily="34" charset="0"/>
                        </a:rPr>
                        <a:t>Initial state</a:t>
                      </a:r>
                    </a:p>
                  </a:txBody>
                  <a:tcPr anchor="ctr">
                    <a:solidFill>
                      <a:srgbClr val="E9EBF5"/>
                    </a:solidFill>
                  </a:tcPr>
                </a:tc>
                <a:extLst>
                  <a:ext uri="{0D108BD9-81ED-4DB2-BD59-A6C34878D82A}">
                    <a16:rowId xmlns:a16="http://schemas.microsoft.com/office/drawing/2014/main" val="10003"/>
                  </a:ext>
                </a:extLst>
              </a:tr>
              <a:tr h="450215">
                <a:tc>
                  <a:txBody>
                    <a:bodyPr/>
                    <a:lstStyle/>
                    <a:p>
                      <a:endParaRPr lang="zh-CN" altLang="en-US" dirty="0"/>
                    </a:p>
                  </a:txBody>
                  <a:tcPr anchor="ctr">
                    <a:solidFill>
                      <a:srgbClr val="E9EB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charset="-122"/>
                          <a:ea typeface="微软雅黑" panose="020B0503020204020204" charset="-122"/>
                          <a:cs typeface="Aparajita" panose="020B0604020202020204" pitchFamily="34" charset="0"/>
                        </a:rPr>
                        <a:t>Response cost</a:t>
                      </a:r>
                    </a:p>
                  </a:txBody>
                  <a:tcPr anchor="ctr">
                    <a:solidFill>
                      <a:srgbClr val="E9EBF5"/>
                    </a:solidFill>
                  </a:tcPr>
                </a:tc>
                <a:extLst>
                  <a:ext uri="{0D108BD9-81ED-4DB2-BD59-A6C34878D82A}">
                    <a16:rowId xmlns:a16="http://schemas.microsoft.com/office/drawing/2014/main" val="10004"/>
                  </a:ext>
                </a:extLst>
              </a:tr>
            </a:tbl>
          </a:graphicData>
        </a:graphic>
      </p:graphicFrame>
      <p:graphicFrame>
        <p:nvGraphicFramePr>
          <p:cNvPr id="30" name="对象 29"/>
          <p:cNvGraphicFramePr>
            <a:graphicFrameLocks noChangeAspect="1"/>
          </p:cNvGraphicFramePr>
          <p:nvPr>
            <p:custDataLst>
              <p:tags r:id="rId2"/>
            </p:custDataLst>
          </p:nvPr>
        </p:nvGraphicFramePr>
        <p:xfrm>
          <a:off x="513601" y="3269454"/>
          <a:ext cx="3268345" cy="2137410"/>
        </p:xfrm>
        <a:graphic>
          <a:graphicData uri="http://schemas.openxmlformats.org/presentationml/2006/ole">
            <mc:AlternateContent xmlns:mc="http://schemas.openxmlformats.org/markup-compatibility/2006">
              <mc:Choice xmlns:v="urn:schemas-microsoft-com:vml" Requires="v">
                <p:oleObj name="Equation" r:id="rId10" imgW="2828925" imgH="1725295" progId="Equation.DSMT4">
                  <p:embed/>
                </p:oleObj>
              </mc:Choice>
              <mc:Fallback>
                <p:oleObj name="Equation" r:id="rId10" imgW="2828925" imgH="1725295" progId="Equation.DSMT4">
                  <p:embed/>
                  <p:pic>
                    <p:nvPicPr>
                      <p:cNvPr id="0" name="对象 7"/>
                      <p:cNvPicPr/>
                      <p:nvPr/>
                    </p:nvPicPr>
                    <p:blipFill>
                      <a:blip r:embed="rId11"/>
                      <a:stretch>
                        <a:fillRect/>
                      </a:stretch>
                    </p:blipFill>
                    <p:spPr>
                      <a:xfrm>
                        <a:off x="513601" y="3269454"/>
                        <a:ext cx="3268345" cy="2137410"/>
                      </a:xfrm>
                      <a:prstGeom prst="rect">
                        <a:avLst/>
                      </a:prstGeom>
                    </p:spPr>
                  </p:pic>
                </p:oleObj>
              </mc:Fallback>
            </mc:AlternateContent>
          </a:graphicData>
        </a:graphic>
      </p:graphicFrame>
      <p:graphicFrame>
        <p:nvGraphicFramePr>
          <p:cNvPr id="33" name="对象 32"/>
          <p:cNvGraphicFramePr>
            <a:graphicFrameLocks noChangeAspect="1"/>
          </p:cNvGraphicFramePr>
          <p:nvPr>
            <p:custDataLst>
              <p:tags r:id="rId3"/>
            </p:custDataLst>
          </p:nvPr>
        </p:nvGraphicFramePr>
        <p:xfrm>
          <a:off x="713626" y="5534888"/>
          <a:ext cx="2868930" cy="398145"/>
        </p:xfrm>
        <a:graphic>
          <a:graphicData uri="http://schemas.openxmlformats.org/presentationml/2006/ole">
            <mc:AlternateContent xmlns:mc="http://schemas.openxmlformats.org/markup-compatibility/2006">
              <mc:Choice xmlns:v="urn:schemas-microsoft-com:vml" Requires="v">
                <p:oleObj name="Equation" r:id="rId12" imgW="2875915" imgH="372745" progId="Equation.DSMT4">
                  <p:embed/>
                </p:oleObj>
              </mc:Choice>
              <mc:Fallback>
                <p:oleObj name="Equation" r:id="rId12" imgW="2875915" imgH="372745" progId="Equation.DSMT4">
                  <p:embed/>
                  <p:pic>
                    <p:nvPicPr>
                      <p:cNvPr id="0" name="对象 10"/>
                      <p:cNvPicPr/>
                      <p:nvPr/>
                    </p:nvPicPr>
                    <p:blipFill>
                      <a:blip r:embed="rId13"/>
                      <a:stretch>
                        <a:fillRect/>
                      </a:stretch>
                    </p:blipFill>
                    <p:spPr>
                      <a:xfrm>
                        <a:off x="713626" y="5534888"/>
                        <a:ext cx="2868930" cy="39814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4" name="文本框 13"/>
              <p:cNvSpPr txBox="1"/>
              <p:nvPr/>
            </p:nvSpPr>
            <p:spPr>
              <a:xfrm>
                <a:off x="5240020" y="4799330"/>
                <a:ext cx="6977380" cy="1867535"/>
              </a:xfrm>
              <a:prstGeom prst="rect">
                <a:avLst/>
              </a:prstGeom>
              <a:noFill/>
            </p:spPr>
            <p:txBody>
              <a:bodyPr wrap="square">
                <a:spAutoFit/>
              </a:bodyPr>
              <a:lstStyle/>
              <a:p>
                <a:pPr>
                  <a:lnSpc>
                    <a:spcPct val="150000"/>
                  </a:lnSpc>
                </a:pPr>
                <a:r>
                  <a:rPr lang="en-US" altLang="zh-CN" sz="1800" b="0" i="0" dirty="0">
                    <a:solidFill>
                      <a:srgbClr val="000000"/>
                    </a:solidFill>
                    <a:effectLst/>
                    <a:cs typeface="+mn-lt"/>
                  </a:rPr>
                  <a:t>The modelling of IPP here is based on the </a:t>
                </a:r>
                <a:r>
                  <a:rPr lang="en-US" altLang="zh-CN" sz="1800" b="1" i="0" dirty="0">
                    <a:solidFill>
                      <a:srgbClr val="000000"/>
                    </a:solidFill>
                    <a:effectLst/>
                    <a:cs typeface="+mn-lt"/>
                  </a:rPr>
                  <a:t>linearized state-task network</a:t>
                </a:r>
                <a:r>
                  <a:rPr lang="zh-CN" altLang="en-US" sz="1800" b="1" i="0" dirty="0">
                    <a:solidFill>
                      <a:srgbClr val="000000"/>
                    </a:solidFill>
                    <a:effectLst/>
                    <a:cs typeface="+mn-lt"/>
                  </a:rPr>
                  <a:t> </a:t>
                </a:r>
                <a:r>
                  <a:rPr lang="en-US" altLang="zh-CN" sz="1800" b="1" i="0" dirty="0">
                    <a:solidFill>
                      <a:srgbClr val="000000"/>
                    </a:solidFill>
                    <a:effectLst/>
                    <a:cs typeface="+mn-lt"/>
                  </a:rPr>
                  <a:t>(LSTN) we developed previously</a:t>
                </a:r>
                <a:r>
                  <a:rPr lang="en-US" altLang="zh-CN" dirty="0">
                    <a:solidFill>
                      <a:srgbClr val="000000"/>
                    </a:solidFill>
                    <a:cs typeface="+mn-lt"/>
                  </a:rPr>
                  <a:t>.</a:t>
                </a:r>
                <a:r>
                  <a:rPr lang="zh-CN" altLang="en-US" dirty="0">
                    <a:solidFill>
                      <a:srgbClr val="000000"/>
                    </a:solidFill>
                    <a:cs typeface="+mn-lt"/>
                  </a:rPr>
                  <a:t> </a:t>
                </a:r>
                <a14:m>
                  <m:oMath xmlns:m="http://schemas.openxmlformats.org/officeDocument/2006/math">
                    <m:sSubSup>
                      <m:sSubSupPr>
                        <m:ctrlPr>
                          <a:rPr lang="en-US" altLang="zh-CN" sz="1800" b="0" i="1" dirty="0" smtClean="0">
                            <a:solidFill>
                              <a:srgbClr val="000000"/>
                            </a:solidFill>
                            <a:effectLst/>
                            <a:latin typeface="Cambria Math" panose="02040503050406030204" pitchFamily="18" charset="0"/>
                            <a:cs typeface="Cambria Math" panose="02040503050406030204" pitchFamily="18" charset="0"/>
                          </a:rPr>
                        </m:ctrlPr>
                      </m:sSubSupPr>
                      <m:e>
                        <m:r>
                          <a:rPr lang="en-US" altLang="zh-CN" sz="1800" b="0" i="1" dirty="0" smtClean="0">
                            <a:solidFill>
                              <a:srgbClr val="000000"/>
                            </a:solidFill>
                            <a:effectLst/>
                            <a:latin typeface="Cambria Math" panose="02040503050406030204" pitchFamily="18" charset="0"/>
                            <a:ea typeface="MS Mincho" charset="0"/>
                            <a:cs typeface="Cambria Math" panose="02040503050406030204" pitchFamily="18" charset="0"/>
                          </a:rPr>
                          <m:t>𝜂</m:t>
                        </m:r>
                      </m:e>
                      <m:sub>
                        <m:r>
                          <a:rPr lang="en-US" altLang="zh-CN" sz="1800" b="0" i="1" dirty="0" smtClean="0">
                            <a:solidFill>
                              <a:srgbClr val="000000"/>
                            </a:solidFill>
                            <a:effectLst/>
                            <a:latin typeface="Cambria Math" panose="02040503050406030204" pitchFamily="18" charset="0"/>
                            <a:cs typeface="Cambria Math" panose="02040503050406030204" pitchFamily="18" charset="0"/>
                          </a:rPr>
                          <m:t>𝑖𝑗</m:t>
                        </m:r>
                      </m:sub>
                      <m:sup>
                        <m:r>
                          <a:rPr lang="en-US" altLang="zh-CN" sz="1800" b="0" i="1" dirty="0" err="1" smtClean="0">
                            <a:solidFill>
                              <a:srgbClr val="000000"/>
                            </a:solidFill>
                            <a:effectLst/>
                            <a:latin typeface="Cambria Math" panose="02040503050406030204" pitchFamily="18" charset="0"/>
                            <a:cs typeface="Cambria Math" panose="02040503050406030204" pitchFamily="18" charset="0"/>
                          </a:rPr>
                          <m:t>𝑐h</m:t>
                        </m:r>
                      </m:sup>
                    </m:sSubSup>
                    <m:r>
                      <a:rPr lang="en-US" altLang="zh-CN" sz="1800" b="0" i="1" dirty="0" smtClean="0">
                        <a:solidFill>
                          <a:srgbClr val="000000"/>
                        </a:solidFill>
                        <a:effectLst/>
                        <a:latin typeface="Cambria Math" panose="02040503050406030204" pitchFamily="18" charset="0"/>
                        <a:ea typeface="MS Mincho" charset="0"/>
                        <a:cs typeface="Cambria Math" panose="02040503050406030204" pitchFamily="18" charset="0"/>
                      </a:rPr>
                      <m:t> </m:t>
                    </m:r>
                  </m:oMath>
                </a14:m>
                <a:r>
                  <a:rPr lang="en-US" altLang="zh-CN" sz="1800" b="0" i="0" dirty="0">
                    <a:solidFill>
                      <a:srgbClr val="000000"/>
                    </a:solidFill>
                    <a:effectLst/>
                    <a:cs typeface="+mn-lt"/>
                  </a:rPr>
                  <a:t>is the inter-production efficiency between IPPs, which represents the change in material </a:t>
                </a:r>
                <a:r>
                  <a:rPr lang="en-US" altLang="zh-CN" sz="1800" b="0" i="1" dirty="0" err="1">
                    <a:solidFill>
                      <a:srgbClr val="000000"/>
                    </a:solidFill>
                    <a:effectLst/>
                    <a:cs typeface="+mn-lt"/>
                  </a:rPr>
                  <a:t>i</a:t>
                </a:r>
                <a:r>
                  <a:rPr lang="en-US" altLang="zh-CN" sz="1800" b="0" i="1" dirty="0">
                    <a:solidFill>
                      <a:srgbClr val="000000"/>
                    </a:solidFill>
                    <a:effectLst/>
                    <a:cs typeface="+mn-lt"/>
                  </a:rPr>
                  <a:t> </a:t>
                </a:r>
                <a:r>
                  <a:rPr lang="en-US" altLang="zh-CN" sz="1800" b="0" i="0" dirty="0">
                    <a:solidFill>
                      <a:srgbClr val="000000"/>
                    </a:solidFill>
                    <a:effectLst/>
                    <a:cs typeface="+mn-lt"/>
                  </a:rPr>
                  <a:t>caused by the energy consumed by production stage </a:t>
                </a:r>
                <a:r>
                  <a:rPr lang="en-US" altLang="zh-CN" sz="1800" b="0" i="1" dirty="0">
                    <a:solidFill>
                      <a:srgbClr val="000000"/>
                    </a:solidFill>
                    <a:effectLst/>
                    <a:cs typeface="+mn-lt"/>
                  </a:rPr>
                  <a:t>j</a:t>
                </a:r>
                <a:r>
                  <a:rPr lang="en-US" altLang="zh-CN" sz="1800" b="0" i="0" dirty="0">
                    <a:solidFill>
                      <a:srgbClr val="000000"/>
                    </a:solidFill>
                    <a:effectLst/>
                    <a:cs typeface="+mn-lt"/>
                  </a:rPr>
                  <a:t>.</a:t>
                </a:r>
                <a:r>
                  <a:rPr lang="en-US" altLang="zh-CN" dirty="0">
                    <a:cs typeface="+mn-lt"/>
                  </a:rPr>
                  <a:t> </a:t>
                </a:r>
                <a:endParaRPr lang="zh-CN" altLang="en-US" dirty="0">
                  <a:cs typeface="+mn-lt"/>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240020" y="4799330"/>
                <a:ext cx="6977380" cy="1867535"/>
              </a:xfrm>
              <a:prstGeom prst="rect">
                <a:avLst/>
              </a:prstGeom>
              <a:blipFill rotWithShape="1">
                <a:blip r:embed="rId15"/>
                <a:stretch>
                  <a:fillRect/>
                </a:stretch>
              </a:blipFill>
            </p:spPr>
            <p:txBody>
              <a:bodyPr/>
              <a:lstStyle/>
              <a:p>
                <a:r>
                  <a:rPr lang="zh-CN" altLang="en-US">
                    <a:noFill/>
                  </a:rPr>
                  <a:t> </a:t>
                </a:r>
              </a:p>
            </p:txBody>
          </p:sp>
        </mc:Fallback>
      </mc:AlternateContent>
      <p:sp>
        <p:nvSpPr>
          <p:cNvPr id="16" name="文本框 15"/>
          <p:cNvSpPr txBox="1"/>
          <p:nvPr/>
        </p:nvSpPr>
        <p:spPr>
          <a:xfrm>
            <a:off x="9382894" y="4271518"/>
            <a:ext cx="1040862"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EV fleet</a:t>
            </a:r>
            <a:endParaRPr lang="zh-CN" altLang="en-US" sz="2000" dirty="0">
              <a:latin typeface="Times New Roman" panose="02020603050405020304" pitchFamily="18" charset="0"/>
              <a:cs typeface="Times New Roman" panose="02020603050405020304" pitchFamily="18" charset="0"/>
            </a:endParaRPr>
          </a:p>
        </p:txBody>
      </p:sp>
      <p:pic>
        <p:nvPicPr>
          <p:cNvPr id="17" name="图片 16"/>
          <p:cNvPicPr>
            <a:picLocks noChangeAspect="1"/>
          </p:cNvPicPr>
          <p:nvPr/>
        </p:nvPicPr>
        <p:blipFill>
          <a:blip r:embed="rId16"/>
          <a:stretch>
            <a:fillRect/>
          </a:stretch>
        </p:blipFill>
        <p:spPr>
          <a:xfrm>
            <a:off x="6838808" y="3340832"/>
            <a:ext cx="1287541" cy="1000238"/>
          </a:xfrm>
          <a:prstGeom prst="rect">
            <a:avLst/>
          </a:prstGeom>
        </p:spPr>
      </p:pic>
      <p:pic>
        <p:nvPicPr>
          <p:cNvPr id="18" name="图片 17"/>
          <p:cNvPicPr>
            <a:picLocks noChangeAspect="1"/>
          </p:cNvPicPr>
          <p:nvPr/>
        </p:nvPicPr>
        <p:blipFill>
          <a:blip r:embed="rId17"/>
          <a:stretch>
            <a:fillRect/>
          </a:stretch>
        </p:blipFill>
        <p:spPr>
          <a:xfrm>
            <a:off x="9074025" y="3573257"/>
            <a:ext cx="1521327" cy="738247"/>
          </a:xfrm>
          <a:prstGeom prst="rect">
            <a:avLst/>
          </a:prstGeom>
        </p:spPr>
      </p:pic>
      <p:pic>
        <p:nvPicPr>
          <p:cNvPr id="19" name="图片 18"/>
          <p:cNvPicPr>
            <a:picLocks noChangeAspect="1"/>
          </p:cNvPicPr>
          <p:nvPr/>
        </p:nvPicPr>
        <p:blipFill>
          <a:blip r:embed="rId18"/>
          <a:stretch>
            <a:fillRect/>
          </a:stretch>
        </p:blipFill>
        <p:spPr>
          <a:xfrm>
            <a:off x="5480971" y="3658366"/>
            <a:ext cx="1328152" cy="718509"/>
          </a:xfrm>
          <a:prstGeom prst="rect">
            <a:avLst/>
          </a:prstGeom>
        </p:spPr>
      </p:pic>
      <p:pic>
        <p:nvPicPr>
          <p:cNvPr id="20" name="图片 19"/>
          <p:cNvPicPr>
            <a:picLocks noChangeAspect="1"/>
          </p:cNvPicPr>
          <p:nvPr/>
        </p:nvPicPr>
        <p:blipFill>
          <a:blip r:embed="rId19"/>
          <a:stretch>
            <a:fillRect/>
          </a:stretch>
        </p:blipFill>
        <p:spPr>
          <a:xfrm>
            <a:off x="10732625" y="3547143"/>
            <a:ext cx="729621" cy="709748"/>
          </a:xfrm>
          <a:prstGeom prst="rect">
            <a:avLst/>
          </a:prstGeom>
        </p:spPr>
      </p:pic>
      <p:pic>
        <p:nvPicPr>
          <p:cNvPr id="21" name="图片 20"/>
          <p:cNvPicPr>
            <a:picLocks noChangeAspect="1"/>
          </p:cNvPicPr>
          <p:nvPr/>
        </p:nvPicPr>
        <p:blipFill>
          <a:blip r:embed="rId20"/>
          <a:stretch>
            <a:fillRect/>
          </a:stretch>
        </p:blipFill>
        <p:spPr>
          <a:xfrm>
            <a:off x="8260106" y="3422054"/>
            <a:ext cx="693838" cy="889745"/>
          </a:xfrm>
          <a:prstGeom prst="rect">
            <a:avLst/>
          </a:prstGeom>
        </p:spPr>
      </p:pic>
      <p:sp>
        <p:nvSpPr>
          <p:cNvPr id="24" name="文本框 23"/>
          <p:cNvSpPr txBox="1"/>
          <p:nvPr/>
        </p:nvSpPr>
        <p:spPr>
          <a:xfrm>
            <a:off x="8235925" y="4287711"/>
            <a:ext cx="670376"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TCL</a:t>
            </a:r>
            <a:endParaRPr lang="zh-CN" altLang="en-US" sz="2000"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7269077" y="4256891"/>
            <a:ext cx="554960"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IPP</a:t>
            </a:r>
            <a:endParaRPr lang="zh-CN" altLang="en-US" sz="2000" dirty="0">
              <a:latin typeface="Times New Roman" panose="02020603050405020304" pitchFamily="18" charset="0"/>
              <a:cs typeface="Times New Roman" panose="02020603050405020304" pitchFamily="18" charset="0"/>
            </a:endParaRPr>
          </a:p>
        </p:txBody>
      </p:sp>
      <p:sp>
        <p:nvSpPr>
          <p:cNvPr id="26" name="文本框 25"/>
          <p:cNvSpPr txBox="1"/>
          <p:nvPr/>
        </p:nvSpPr>
        <p:spPr>
          <a:xfrm>
            <a:off x="5888406" y="4275369"/>
            <a:ext cx="513282"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PV</a:t>
            </a:r>
            <a:endParaRPr lang="zh-CN" altLang="en-US" sz="2000" dirty="0">
              <a:latin typeface="Times New Roman" panose="02020603050405020304" pitchFamily="18" charset="0"/>
              <a:cs typeface="Times New Roman" panose="02020603050405020304" pitchFamily="18" charset="0"/>
            </a:endParaRPr>
          </a:p>
        </p:txBody>
      </p:sp>
      <p:sp>
        <p:nvSpPr>
          <p:cNvPr id="27" name="文本框 26"/>
          <p:cNvSpPr txBox="1"/>
          <p:nvPr/>
        </p:nvSpPr>
        <p:spPr>
          <a:xfrm>
            <a:off x="10824433" y="4274100"/>
            <a:ext cx="484428"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ES</a:t>
            </a:r>
            <a:endParaRPr lang="zh-CN" altLang="en-US" sz="2000" dirty="0">
              <a:latin typeface="Times New Roman" panose="02020603050405020304" pitchFamily="18" charset="0"/>
              <a:cs typeface="Times New Roman" panose="02020603050405020304" pitchFamily="18" charset="0"/>
            </a:endParaRPr>
          </a:p>
        </p:txBody>
      </p:sp>
      <p:sp>
        <p:nvSpPr>
          <p:cNvPr id="175" name="文本框 174"/>
          <p:cNvSpPr txBox="1"/>
          <p:nvPr/>
        </p:nvSpPr>
        <p:spPr>
          <a:xfrm>
            <a:off x="1006475" y="175260"/>
            <a:ext cx="10538460" cy="645160"/>
          </a:xfrm>
          <a:prstGeom prst="rect">
            <a:avLst/>
          </a:prstGeom>
          <a:noFill/>
        </p:spPr>
        <p:txBody>
          <a:bodyPr wrap="square" rtlCol="0">
            <a:spAutoFit/>
          </a:bodyPr>
          <a:lstStyle/>
          <a:p>
            <a:pPr lvl="0">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rPr>
              <a:t>4-Optimization with Heterogeneous Resources</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图片 168"/>
          <p:cNvPicPr>
            <a:picLocks noChangeAspect="1"/>
          </p:cNvPicPr>
          <p:nvPr/>
        </p:nvPicPr>
        <p:blipFill rotWithShape="1">
          <a:blip r:embed="rId3" cstate="screen"/>
          <a:srcRect r="-28"/>
          <a:stretch>
            <a:fillRect/>
          </a:stretch>
        </p:blipFill>
        <p:spPr>
          <a:xfrm flipH="1">
            <a:off x="5598767" y="-1"/>
            <a:ext cx="3326355" cy="995307"/>
          </a:xfrm>
          <a:prstGeom prst="rect">
            <a:avLst/>
          </a:prstGeom>
        </p:spPr>
      </p:pic>
      <p:pic>
        <p:nvPicPr>
          <p:cNvPr id="15" name="图片 14"/>
          <p:cNvPicPr>
            <a:picLocks noChangeAspect="1"/>
          </p:cNvPicPr>
          <p:nvPr/>
        </p:nvPicPr>
        <p:blipFill rotWithShape="1">
          <a:blip r:embed="rId4" cstate="screen"/>
          <a:srcRect/>
          <a:stretch>
            <a:fillRect/>
          </a:stretch>
        </p:blipFill>
        <p:spPr>
          <a:xfrm>
            <a:off x="8890933" y="0"/>
            <a:ext cx="3326355" cy="973859"/>
          </a:xfrm>
          <a:prstGeom prst="rect">
            <a:avLst/>
          </a:prstGeom>
        </p:spPr>
      </p:pic>
      <p:sp>
        <p:nvSpPr>
          <p:cNvPr id="78" name="矩形 77"/>
          <p:cNvSpPr/>
          <p:nvPr/>
        </p:nvSpPr>
        <p:spPr>
          <a:xfrm>
            <a:off x="0" y="0"/>
            <a:ext cx="12217288" cy="995306"/>
          </a:xfrm>
          <a:prstGeom prst="rect">
            <a:avLst/>
          </a:prstGeom>
          <a:gradFill flip="none" rotWithShape="1">
            <a:gsLst>
              <a:gs pos="54501">
                <a:srgbClr val="580C6E"/>
              </a:gs>
              <a:gs pos="73000">
                <a:srgbClr val="61106A">
                  <a:alpha val="90000"/>
                </a:srgbClr>
              </a:gs>
              <a:gs pos="84000">
                <a:srgbClr val="952064">
                  <a:alpha val="46000"/>
                </a:srgbClr>
              </a:gs>
              <a:gs pos="34845">
                <a:srgbClr val="580C6E"/>
              </a:gs>
              <a:gs pos="0">
                <a:srgbClr val="580C6E">
                  <a:lumMod val="100000"/>
                </a:srgbClr>
              </a:gs>
              <a:gs pos="100000">
                <a:srgbClr val="AC276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ea typeface="微软雅黑" panose="020B0503020204020204" charset="-122"/>
              <a:cs typeface="+mn-lt"/>
              <a:sym typeface="+mn-lt"/>
            </a:endParaRPr>
          </a:p>
        </p:txBody>
      </p:sp>
      <p:pic>
        <p:nvPicPr>
          <p:cNvPr id="170" name="图片 169"/>
          <p:cNvPicPr>
            <a:picLocks noChangeAspect="1"/>
          </p:cNvPicPr>
          <p:nvPr/>
        </p:nvPicPr>
        <p:blipFill>
          <a:blip r:embed="rId5" cstate="screen">
            <a:lum bright="70000" contrast="-70000"/>
            <a:extLst>
              <a:ext uri="{BEBA8EAE-BF5A-486C-A8C5-ECC9F3942E4B}">
                <a14:imgProps xmlns:a14="http://schemas.microsoft.com/office/drawing/2010/main">
                  <a14:imgLayer r:embed="rId6">
                    <a14:imgEffect>
                      <a14:brightnessContrast bright="12000" contrast="-40000"/>
                    </a14:imgEffect>
                    <a14:imgEffect>
                      <a14:saturation sat="0"/>
                    </a14:imgEffect>
                    <a14:imgEffect>
                      <a14:sharpenSoften amount="-50000"/>
                    </a14:imgEffect>
                  </a14:imgLayer>
                </a14:imgProps>
              </a:ext>
            </a:extLst>
          </a:blip>
          <a:stretch>
            <a:fillRect/>
          </a:stretch>
        </p:blipFill>
        <p:spPr>
          <a:xfrm>
            <a:off x="258641" y="125580"/>
            <a:ext cx="747562" cy="778934"/>
          </a:xfrm>
          <a:prstGeom prst="rect">
            <a:avLst/>
          </a:prstGeom>
          <a:ln>
            <a:solidFill>
              <a:srgbClr val="580C6E"/>
            </a:solidFill>
          </a:ln>
        </p:spPr>
      </p:pic>
      <p:sp>
        <p:nvSpPr>
          <p:cNvPr id="4" name="矩形 3"/>
          <p:cNvSpPr/>
          <p:nvPr/>
        </p:nvSpPr>
        <p:spPr>
          <a:xfrm>
            <a:off x="632422" y="1079242"/>
            <a:ext cx="11217351" cy="2015035"/>
          </a:xfrm>
          <a:prstGeom prst="rect">
            <a:avLst/>
          </a:prstGeom>
          <a:solidFill>
            <a:srgbClr val="F7E4FC"/>
          </a:solidFill>
          <a:ln w="9525">
            <a:noFill/>
            <a:prstDash val="dash"/>
          </a:ln>
          <a:effectLst/>
        </p:spPr>
        <p:txBody>
          <a:bodyPr wrap="square" lIns="144000" tIns="108000" rIns="144000" bIns="108000" anchor="ctr" anchorCtr="0">
            <a:noAutofit/>
          </a:bodyPr>
          <a:lstStyle/>
          <a:p>
            <a:pPr algn="just" hangingPunct="0">
              <a:lnSpc>
                <a:spcPct val="150000"/>
              </a:lnSpc>
              <a:buClr>
                <a:prstClr val="white">
                  <a:lumMod val="50000"/>
                </a:prstClr>
              </a:buClr>
              <a:buSzPct val="80000"/>
            </a:pPr>
            <a:r>
              <a:rPr lang="en-US" altLang="zh-CN" sz="2000" b="1" kern="0" dirty="0">
                <a:cs typeface="+mn-lt"/>
              </a:rPr>
              <a:t>Method (Step 2)</a:t>
            </a:r>
            <a:r>
              <a:rPr lang="en-US" altLang="zh-CN" sz="2000" kern="0" dirty="0">
                <a:cs typeface="+mn-lt"/>
              </a:rPr>
              <a:t>: Establish a multi-timescale optimization model, with the </a:t>
            </a:r>
            <a:r>
              <a:rPr lang="en-US" altLang="zh-CN" sz="2000" b="1" kern="0" dirty="0">
                <a:cs typeface="+mn-lt"/>
              </a:rPr>
              <a:t>upper layer </a:t>
            </a:r>
            <a:r>
              <a:rPr lang="en-US" altLang="zh-CN" sz="2000" kern="0" dirty="0">
                <a:cs typeface="+mn-lt"/>
              </a:rPr>
              <a:t>for </a:t>
            </a:r>
            <a:r>
              <a:rPr lang="en-US" altLang="zh-CN" sz="2000" b="1" kern="0" dirty="0">
                <a:solidFill>
                  <a:srgbClr val="7030A0"/>
                </a:solidFill>
                <a:cs typeface="+mn-lt"/>
              </a:rPr>
              <a:t>bid decision-making </a:t>
            </a:r>
            <a:r>
              <a:rPr lang="en-US" altLang="zh-CN" sz="2000" kern="0" dirty="0">
                <a:cs typeface="+mn-lt"/>
              </a:rPr>
              <a:t>and the </a:t>
            </a:r>
            <a:r>
              <a:rPr lang="en-US" altLang="zh-CN" sz="2000" b="1" kern="0" dirty="0">
                <a:cs typeface="+mn-lt"/>
              </a:rPr>
              <a:t>lower layer </a:t>
            </a:r>
            <a:r>
              <a:rPr lang="en-US" altLang="zh-CN" sz="2000" kern="0" dirty="0">
                <a:cs typeface="+mn-lt"/>
              </a:rPr>
              <a:t>responsible for </a:t>
            </a:r>
            <a:r>
              <a:rPr lang="en-US" altLang="zh-CN" sz="2000" b="1" kern="0" dirty="0">
                <a:solidFill>
                  <a:srgbClr val="7030A0"/>
                </a:solidFill>
                <a:cs typeface="+mn-lt"/>
              </a:rPr>
              <a:t>power disaggregation</a:t>
            </a:r>
            <a:r>
              <a:rPr lang="en-US" altLang="zh-CN" sz="2000" kern="0" dirty="0">
                <a:cs typeface="+mn-lt"/>
              </a:rPr>
              <a:t>. The optimization disaggregation strategy is to </a:t>
            </a:r>
            <a:r>
              <a:rPr lang="en-US" altLang="zh-CN" sz="2000" b="1" kern="0" dirty="0">
                <a:solidFill>
                  <a:srgbClr val="7030A0"/>
                </a:solidFill>
                <a:cs typeface="+mn-lt"/>
              </a:rPr>
              <a:t>prioritize the use of low-cost resources </a:t>
            </a:r>
            <a:r>
              <a:rPr lang="en-US" altLang="zh-CN" sz="2000" kern="0" dirty="0">
                <a:cs typeface="+mn-lt"/>
              </a:rPr>
              <a:t>while considering the coupling characteristics of time periods (i.e., the opportunity cost/ impact on future profit).</a:t>
            </a:r>
            <a:endParaRPr lang="zh-CN" altLang="en-US" sz="2000" kern="0" dirty="0">
              <a:cs typeface="+mn-lt"/>
            </a:endParaRPr>
          </a:p>
        </p:txBody>
      </p:sp>
      <p:sp>
        <p:nvSpPr>
          <p:cNvPr id="10" name="灯片编号占位符 1"/>
          <p:cNvSpPr>
            <a:spLocks noGrp="1"/>
          </p:cNvSpPr>
          <p:nvPr>
            <p:ph type="sldNum" sz="quarter" idx="12"/>
          </p:nvPr>
        </p:nvSpPr>
        <p:spPr>
          <a:xfrm>
            <a:off x="9324232" y="64835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ea typeface="OPPOSans B"/>
                <a:cs typeface="+mn-lt"/>
              </a:rPr>
              <a:t>3</a:t>
            </a:fld>
            <a:endParaRPr kumimoji="0" lang="zh-CN" altLang="en-US" sz="1200" b="0" i="0" u="none" strike="noStrike" kern="1200" cap="none" spc="0" normalizeH="0" baseline="0" noProof="0" dirty="0">
              <a:ln>
                <a:noFill/>
              </a:ln>
              <a:solidFill>
                <a:prstClr val="black">
                  <a:tint val="75000"/>
                </a:prstClr>
              </a:solidFill>
              <a:effectLst/>
              <a:uLnTx/>
              <a:uFillTx/>
              <a:ea typeface="OPPOSans B"/>
              <a:cs typeface="+mn-lt"/>
            </a:endParaRPr>
          </a:p>
        </p:txBody>
      </p:sp>
      <p:pic>
        <p:nvPicPr>
          <p:cNvPr id="2" name="图片 1"/>
          <p:cNvPicPr>
            <a:picLocks noChangeAspect="1"/>
          </p:cNvPicPr>
          <p:nvPr/>
        </p:nvPicPr>
        <p:blipFill rotWithShape="1">
          <a:blip r:embed="rId7"/>
          <a:srcRect l="4112" b="10448"/>
          <a:stretch>
            <a:fillRect/>
          </a:stretch>
        </p:blipFill>
        <p:spPr>
          <a:xfrm>
            <a:off x="938241" y="3102800"/>
            <a:ext cx="5194244" cy="3256905"/>
          </a:xfrm>
          <a:prstGeom prst="rect">
            <a:avLst/>
          </a:prstGeom>
        </p:spPr>
      </p:pic>
      <p:pic>
        <p:nvPicPr>
          <p:cNvPr id="3" name="图片 2"/>
          <p:cNvPicPr>
            <a:picLocks noChangeAspect="1"/>
          </p:cNvPicPr>
          <p:nvPr/>
        </p:nvPicPr>
        <p:blipFill>
          <a:blip r:embed="rId8"/>
          <a:stretch>
            <a:fillRect/>
          </a:stretch>
        </p:blipFill>
        <p:spPr>
          <a:xfrm>
            <a:off x="6330029" y="3161638"/>
            <a:ext cx="4489738" cy="2870864"/>
          </a:xfrm>
          <a:prstGeom prst="rect">
            <a:avLst/>
          </a:prstGeom>
        </p:spPr>
      </p:pic>
      <p:sp>
        <p:nvSpPr>
          <p:cNvPr id="12" name="文本框 11"/>
          <p:cNvSpPr txBox="1"/>
          <p:nvPr/>
        </p:nvSpPr>
        <p:spPr>
          <a:xfrm>
            <a:off x="328398" y="6359705"/>
            <a:ext cx="11333089" cy="521970"/>
          </a:xfrm>
          <a:prstGeom prst="rect">
            <a:avLst/>
          </a:prstGeom>
          <a:noFill/>
        </p:spPr>
        <p:txBody>
          <a:bodyPr wrap="square">
            <a:spAutoFit/>
          </a:bodyPr>
          <a:lstStyle/>
          <a:p>
            <a:pPr marL="285750" indent="-285750">
              <a:buFont typeface="Arial" panose="020B0604020202020204" pitchFamily="34" charset="0"/>
              <a:buChar char="•"/>
            </a:pPr>
            <a:r>
              <a:rPr sz="1400">
                <a:cs typeface="+mn-lt"/>
              </a:rPr>
              <a:t>Qixin Chen, Ruike Lyu, Hongye Guo, and Xiangbo Su. "Real-Time Operation Strategy of Virtual Power Plants With Optimal Power Disaggregation Among Heterogeneous Resources." Applied Energy 361 (2024): 122876.</a:t>
            </a:r>
          </a:p>
        </p:txBody>
      </p:sp>
      <p:sp>
        <p:nvSpPr>
          <p:cNvPr id="16" name="文本框 15"/>
          <p:cNvSpPr txBox="1"/>
          <p:nvPr/>
        </p:nvSpPr>
        <p:spPr>
          <a:xfrm>
            <a:off x="5500370" y="5950585"/>
            <a:ext cx="6717030" cy="337185"/>
          </a:xfrm>
          <a:prstGeom prst="rect">
            <a:avLst/>
          </a:prstGeom>
          <a:noFill/>
        </p:spPr>
        <p:txBody>
          <a:bodyPr wrap="square">
            <a:spAutoFit/>
          </a:bodyPr>
          <a:lstStyle/>
          <a:p>
            <a:r>
              <a:rPr lang="en-US" altLang="zh-CN" sz="1600" b="1" dirty="0">
                <a:solidFill>
                  <a:srgbClr val="000000"/>
                </a:solidFill>
                <a:cs typeface="+mn-lt"/>
              </a:rPr>
              <a:t>V</a:t>
            </a:r>
            <a:r>
              <a:rPr lang="en-US" altLang="zh-CN" sz="1600" b="1" i="0" dirty="0">
                <a:solidFill>
                  <a:srgbClr val="000000"/>
                </a:solidFill>
                <a:effectLst/>
                <a:cs typeface="+mn-lt"/>
              </a:rPr>
              <a:t>isual representation of the Optimal Disaggregation algorithm</a:t>
            </a:r>
            <a:r>
              <a:rPr lang="en-US" altLang="zh-CN" sz="1600" b="1" dirty="0">
                <a:cs typeface="+mn-lt"/>
              </a:rPr>
              <a:t> </a:t>
            </a:r>
          </a:p>
        </p:txBody>
      </p:sp>
      <p:sp>
        <p:nvSpPr>
          <p:cNvPr id="175" name="文本框 174"/>
          <p:cNvSpPr txBox="1"/>
          <p:nvPr/>
        </p:nvSpPr>
        <p:spPr>
          <a:xfrm>
            <a:off x="1006475" y="175260"/>
            <a:ext cx="10538460" cy="645160"/>
          </a:xfrm>
          <a:prstGeom prst="rect">
            <a:avLst/>
          </a:prstGeom>
          <a:noFill/>
        </p:spPr>
        <p:txBody>
          <a:bodyPr wrap="square" rtlCol="0">
            <a:spAutoFit/>
          </a:bodyPr>
          <a:lstStyle/>
          <a:p>
            <a:pPr lvl="0">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rPr>
              <a:t>4-Optimization with Heterogeneous Resources</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图片 168"/>
          <p:cNvPicPr>
            <a:picLocks noChangeAspect="1"/>
          </p:cNvPicPr>
          <p:nvPr/>
        </p:nvPicPr>
        <p:blipFill rotWithShape="1">
          <a:blip r:embed="rId3" cstate="screen"/>
          <a:srcRect r="-28"/>
          <a:stretch>
            <a:fillRect/>
          </a:stretch>
        </p:blipFill>
        <p:spPr>
          <a:xfrm flipH="1">
            <a:off x="5598767" y="-1"/>
            <a:ext cx="3326355" cy="995307"/>
          </a:xfrm>
          <a:prstGeom prst="rect">
            <a:avLst/>
          </a:prstGeom>
        </p:spPr>
      </p:pic>
      <p:pic>
        <p:nvPicPr>
          <p:cNvPr id="15" name="图片 14"/>
          <p:cNvPicPr>
            <a:picLocks noChangeAspect="1"/>
          </p:cNvPicPr>
          <p:nvPr/>
        </p:nvPicPr>
        <p:blipFill rotWithShape="1">
          <a:blip r:embed="rId4" cstate="screen"/>
          <a:srcRect/>
          <a:stretch>
            <a:fillRect/>
          </a:stretch>
        </p:blipFill>
        <p:spPr>
          <a:xfrm>
            <a:off x="8890933" y="0"/>
            <a:ext cx="3326355" cy="973859"/>
          </a:xfrm>
          <a:prstGeom prst="rect">
            <a:avLst/>
          </a:prstGeom>
        </p:spPr>
      </p:pic>
      <p:sp>
        <p:nvSpPr>
          <p:cNvPr id="78" name="矩形 77"/>
          <p:cNvSpPr/>
          <p:nvPr/>
        </p:nvSpPr>
        <p:spPr>
          <a:xfrm>
            <a:off x="0" y="0"/>
            <a:ext cx="12217288" cy="995306"/>
          </a:xfrm>
          <a:prstGeom prst="rect">
            <a:avLst/>
          </a:prstGeom>
          <a:gradFill flip="none" rotWithShape="1">
            <a:gsLst>
              <a:gs pos="54501">
                <a:srgbClr val="580C6E"/>
              </a:gs>
              <a:gs pos="73000">
                <a:srgbClr val="61106A">
                  <a:alpha val="90000"/>
                </a:srgbClr>
              </a:gs>
              <a:gs pos="84000">
                <a:srgbClr val="952064">
                  <a:alpha val="46000"/>
                </a:srgbClr>
              </a:gs>
              <a:gs pos="34845">
                <a:srgbClr val="580C6E"/>
              </a:gs>
              <a:gs pos="0">
                <a:srgbClr val="580C6E">
                  <a:lumMod val="100000"/>
                </a:srgbClr>
              </a:gs>
              <a:gs pos="100000">
                <a:srgbClr val="AC276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pic>
        <p:nvPicPr>
          <p:cNvPr id="170" name="图片 169"/>
          <p:cNvPicPr>
            <a:picLocks noChangeAspect="1"/>
          </p:cNvPicPr>
          <p:nvPr/>
        </p:nvPicPr>
        <p:blipFill>
          <a:blip r:embed="rId5" cstate="screen">
            <a:lum bright="70000" contrast="-70000"/>
            <a:extLst>
              <a:ext uri="{BEBA8EAE-BF5A-486C-A8C5-ECC9F3942E4B}">
                <a14:imgProps xmlns:a14="http://schemas.microsoft.com/office/drawing/2010/main">
                  <a14:imgLayer r:embed="rId6">
                    <a14:imgEffect>
                      <a14:brightnessContrast bright="12000" contrast="-40000"/>
                    </a14:imgEffect>
                    <a14:imgEffect>
                      <a14:saturation sat="0"/>
                    </a14:imgEffect>
                    <a14:imgEffect>
                      <a14:sharpenSoften amount="-50000"/>
                    </a14:imgEffect>
                  </a14:imgLayer>
                </a14:imgProps>
              </a:ext>
            </a:extLst>
          </a:blip>
          <a:stretch>
            <a:fillRect/>
          </a:stretch>
        </p:blipFill>
        <p:spPr>
          <a:xfrm>
            <a:off x="258641" y="125580"/>
            <a:ext cx="747562" cy="778934"/>
          </a:xfrm>
          <a:prstGeom prst="rect">
            <a:avLst/>
          </a:prstGeom>
          <a:ln>
            <a:solidFill>
              <a:srgbClr val="580C6E"/>
            </a:solidFill>
          </a:ln>
        </p:spPr>
      </p:pic>
      <p:sp>
        <p:nvSpPr>
          <p:cNvPr id="10" name="灯片编号占位符 1"/>
          <p:cNvSpPr>
            <a:spLocks noGrp="1"/>
          </p:cNvSpPr>
          <p:nvPr>
            <p:ph type="sldNum" sz="quarter" idx="12"/>
          </p:nvPr>
        </p:nvSpPr>
        <p:spPr>
          <a:xfrm>
            <a:off x="9324232" y="64835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latin typeface="HelveticaExt-Normal"/>
                <a:ea typeface="OPPOSans B"/>
                <a:cs typeface="+mn-cs"/>
              </a:rPr>
              <a:t>4</a:t>
            </a:fld>
            <a:endParaRPr kumimoji="0" lang="zh-CN" altLang="en-US" sz="1200" b="0" i="0" u="none" strike="noStrike" kern="1200" cap="none" spc="0" normalizeH="0" baseline="0" noProof="0" dirty="0">
              <a:ln>
                <a:noFill/>
              </a:ln>
              <a:solidFill>
                <a:prstClr val="black">
                  <a:tint val="75000"/>
                </a:prstClr>
              </a:solidFill>
              <a:effectLst/>
              <a:uLnTx/>
              <a:uFillTx/>
              <a:latin typeface="HelveticaExt-Normal"/>
              <a:ea typeface="OPPOSans B"/>
              <a:cs typeface="+mn-cs"/>
            </a:endParaRPr>
          </a:p>
        </p:txBody>
      </p:sp>
      <p:pic>
        <p:nvPicPr>
          <p:cNvPr id="3" name="图片 2"/>
          <p:cNvPicPr>
            <a:picLocks noChangeAspect="1"/>
          </p:cNvPicPr>
          <p:nvPr/>
        </p:nvPicPr>
        <p:blipFill>
          <a:blip r:embed="rId7"/>
          <a:srcRect l="7507" r="5028" b="36349"/>
          <a:stretch>
            <a:fillRect/>
          </a:stretch>
        </p:blipFill>
        <p:spPr>
          <a:xfrm>
            <a:off x="292100" y="2866390"/>
            <a:ext cx="11593830" cy="3067685"/>
          </a:xfrm>
          <a:prstGeom prst="rect">
            <a:avLst/>
          </a:prstGeom>
        </p:spPr>
      </p:pic>
      <p:sp>
        <p:nvSpPr>
          <p:cNvPr id="20" name="矩形 19"/>
          <p:cNvSpPr/>
          <p:nvPr/>
        </p:nvSpPr>
        <p:spPr>
          <a:xfrm>
            <a:off x="535577" y="1187187"/>
            <a:ext cx="11103429" cy="1486566"/>
          </a:xfrm>
          <a:prstGeom prst="rect">
            <a:avLst/>
          </a:prstGeom>
          <a:solidFill>
            <a:srgbClr val="F7E4FC"/>
          </a:solidFill>
          <a:ln w="9525">
            <a:noFill/>
            <a:prstDash val="dash"/>
          </a:ln>
          <a:effectLst/>
        </p:spPr>
        <p:txBody>
          <a:bodyPr wrap="square" lIns="144000" tIns="108000" rIns="144000" bIns="108000" anchor="ctr" anchorCtr="0">
            <a:noAutofit/>
          </a:bodyPr>
          <a:lstStyle/>
          <a:p>
            <a:pPr algn="just" hangingPunct="0">
              <a:lnSpc>
                <a:spcPct val="150000"/>
              </a:lnSpc>
              <a:buClr>
                <a:prstClr val="white">
                  <a:lumMod val="50000"/>
                </a:prstClr>
              </a:buClr>
              <a:buSzPct val="80000"/>
            </a:pPr>
            <a:r>
              <a:rPr lang="en-US" altLang="zh-CN" sz="2000" b="1" kern="0" dirty="0"/>
              <a:t>Case study</a:t>
            </a:r>
            <a:r>
              <a:rPr lang="en-US" altLang="zh-CN" sz="2000" kern="0" dirty="0"/>
              <a:t>: The VPP consists of </a:t>
            </a:r>
            <a:r>
              <a:rPr lang="en-US" altLang="zh-CN" sz="2000" b="1" kern="0" dirty="0"/>
              <a:t>PV</a:t>
            </a:r>
            <a:r>
              <a:rPr lang="en-US" altLang="zh-CN" sz="2000" kern="0" dirty="0"/>
              <a:t>, </a:t>
            </a:r>
            <a:r>
              <a:rPr lang="en-US" altLang="zh-CN" sz="2000" b="1" kern="0" dirty="0"/>
              <a:t>ES</a:t>
            </a:r>
            <a:r>
              <a:rPr lang="en-US" altLang="zh-CN" sz="2000" kern="0" dirty="0"/>
              <a:t>, a fleet of </a:t>
            </a:r>
            <a:r>
              <a:rPr lang="en-US" altLang="zh-CN" sz="2000" b="1" kern="0" dirty="0"/>
              <a:t>EVs</a:t>
            </a:r>
            <a:r>
              <a:rPr lang="en-US" altLang="zh-CN" sz="2000" kern="0" dirty="0"/>
              <a:t>, </a:t>
            </a:r>
            <a:r>
              <a:rPr lang="en-US" altLang="zh-CN" sz="2000" b="1" kern="0" dirty="0"/>
              <a:t>TCLs</a:t>
            </a:r>
            <a:r>
              <a:rPr lang="en-US" altLang="zh-CN" sz="2000" kern="0" dirty="0"/>
              <a:t>, and </a:t>
            </a:r>
            <a:r>
              <a:rPr lang="en-US" altLang="zh-CN" sz="2000" b="1" kern="0" dirty="0"/>
              <a:t>IPP</a:t>
            </a:r>
            <a:r>
              <a:rPr lang="en-US" altLang="zh-CN" sz="2000" kern="0" dirty="0"/>
              <a:t> resources. </a:t>
            </a:r>
          </a:p>
          <a:p>
            <a:pPr algn="just" hangingPunct="0">
              <a:lnSpc>
                <a:spcPct val="150000"/>
              </a:lnSpc>
              <a:buClr>
                <a:prstClr val="white">
                  <a:lumMod val="50000"/>
                </a:prstClr>
              </a:buClr>
              <a:buSzPct val="80000"/>
            </a:pPr>
            <a:r>
              <a:rPr lang="en-US" altLang="zh-CN" sz="2000" kern="0" dirty="0"/>
              <a:t>We use the </a:t>
            </a:r>
            <a:r>
              <a:rPr lang="en-US" altLang="zh-CN" sz="2000" b="1" kern="0" dirty="0">
                <a:sym typeface="+mn-ea"/>
              </a:rPr>
              <a:t>real-time </a:t>
            </a:r>
            <a:r>
              <a:rPr lang="en-US" altLang="zh-CN" sz="2000" b="1" kern="0" dirty="0"/>
              <a:t>prices</a:t>
            </a:r>
            <a:r>
              <a:rPr lang="en-US" altLang="zh-CN" sz="2000" kern="0" dirty="0"/>
              <a:t> of </a:t>
            </a:r>
            <a:r>
              <a:rPr lang="en-US" altLang="zh-CN" sz="2000" b="1" kern="0" dirty="0"/>
              <a:t>energy </a:t>
            </a:r>
            <a:r>
              <a:rPr lang="en-US" altLang="zh-CN" sz="2000" kern="0" dirty="0"/>
              <a:t>and </a:t>
            </a:r>
            <a:r>
              <a:rPr lang="en-US" altLang="zh-CN" sz="2000" b="1" kern="0" dirty="0"/>
              <a:t>frequency regulation</a:t>
            </a:r>
            <a:r>
              <a:rPr lang="en-US" altLang="zh-CN" sz="2000" kern="0" dirty="0"/>
              <a:t>of the PJM in July 2022 as boundary conditions.</a:t>
            </a:r>
            <a:endParaRPr lang="zh-CN" altLang="en-US" sz="2200" b="1" dirty="0">
              <a:solidFill>
                <a:prstClr val="black"/>
              </a:solidFill>
              <a:latin typeface="微软雅黑" panose="020B0503020204020204" charset="-122"/>
              <a:ea typeface="微软雅黑" panose="020B0503020204020204" charset="-122"/>
              <a:cs typeface="+mn-ea"/>
            </a:endParaRPr>
          </a:p>
        </p:txBody>
      </p:sp>
      <p:sp>
        <p:nvSpPr>
          <p:cNvPr id="2" name="文本框 1"/>
          <p:cNvSpPr txBox="1"/>
          <p:nvPr/>
        </p:nvSpPr>
        <p:spPr>
          <a:xfrm>
            <a:off x="3668357" y="5171062"/>
            <a:ext cx="2076995" cy="646331"/>
          </a:xfrm>
          <a:prstGeom prst="rect">
            <a:avLst/>
          </a:prstGeom>
          <a:noFill/>
        </p:spPr>
        <p:txBody>
          <a:bodyPr wrap="square" rtlCol="0">
            <a:spAutoFit/>
          </a:bodyPr>
          <a:lstStyle/>
          <a:p>
            <a:r>
              <a:rPr kumimoji="1" lang="en-US" altLang="zh-CN" b="1" dirty="0">
                <a:solidFill>
                  <a:srgbClr val="7030A0"/>
                </a:solidFill>
              </a:rPr>
              <a:t>More</a:t>
            </a:r>
            <a:r>
              <a:rPr kumimoji="1" lang="zh-CN" altLang="en-US" b="1" dirty="0">
                <a:solidFill>
                  <a:srgbClr val="7030A0"/>
                </a:solidFill>
              </a:rPr>
              <a:t> </a:t>
            </a:r>
            <a:r>
              <a:rPr kumimoji="1" lang="en-US" altLang="zh-CN" b="1" dirty="0">
                <a:solidFill>
                  <a:srgbClr val="7030A0"/>
                </a:solidFill>
              </a:rPr>
              <a:t>diversified,</a:t>
            </a:r>
            <a:r>
              <a:rPr kumimoji="1" lang="zh-CN" altLang="en-US" b="1" dirty="0">
                <a:solidFill>
                  <a:srgbClr val="7030A0"/>
                </a:solidFill>
              </a:rPr>
              <a:t> </a:t>
            </a:r>
            <a:r>
              <a:rPr kumimoji="1" lang="en-US" altLang="zh-CN" b="1" dirty="0">
                <a:solidFill>
                  <a:srgbClr val="7030A0"/>
                </a:solidFill>
              </a:rPr>
              <a:t>more</a:t>
            </a:r>
            <a:r>
              <a:rPr kumimoji="1" lang="zh-CN" altLang="en-US" b="1" dirty="0">
                <a:solidFill>
                  <a:srgbClr val="7030A0"/>
                </a:solidFill>
              </a:rPr>
              <a:t> </a:t>
            </a:r>
            <a:r>
              <a:rPr kumimoji="1" lang="en-US" altLang="zh-CN" b="1" dirty="0">
                <a:solidFill>
                  <a:srgbClr val="7030A0"/>
                </a:solidFill>
              </a:rPr>
              <a:t>flexible</a:t>
            </a:r>
            <a:endParaRPr kumimoji="1" lang="zh-CN" altLang="en-US" b="1" dirty="0">
              <a:solidFill>
                <a:srgbClr val="7030A0"/>
              </a:solidFill>
            </a:endParaRPr>
          </a:p>
        </p:txBody>
      </p:sp>
      <p:sp>
        <p:nvSpPr>
          <p:cNvPr id="4" name="文本框 3"/>
          <p:cNvSpPr txBox="1"/>
          <p:nvPr/>
        </p:nvSpPr>
        <p:spPr>
          <a:xfrm>
            <a:off x="718185" y="5993130"/>
            <a:ext cx="4880610" cy="645160"/>
          </a:xfrm>
          <a:prstGeom prst="rect">
            <a:avLst/>
          </a:prstGeom>
          <a:noFill/>
        </p:spPr>
        <p:txBody>
          <a:bodyPr wrap="square" rtlCol="0">
            <a:spAutoFit/>
          </a:bodyPr>
          <a:lstStyle/>
          <a:p>
            <a:r>
              <a:rPr kumimoji="1" lang="en-US" altLang="zh-CN" b="1" dirty="0"/>
              <a:t>(a) Our</a:t>
            </a:r>
            <a:r>
              <a:rPr kumimoji="1" lang="zh-CN" altLang="en-US" b="1" dirty="0"/>
              <a:t> </a:t>
            </a:r>
            <a:r>
              <a:rPr kumimoji="1" lang="en-US" altLang="zh-CN" b="1" dirty="0"/>
              <a:t>method: </a:t>
            </a:r>
          </a:p>
          <a:p>
            <a:r>
              <a:rPr kumimoji="1" lang="en-US" altLang="zh-CN" b="1" dirty="0"/>
              <a:t>power disaggregation optimally</a:t>
            </a:r>
            <a:endParaRPr kumimoji="1" lang="zh-CN" altLang="en-US" b="1" dirty="0"/>
          </a:p>
        </p:txBody>
      </p:sp>
      <p:sp>
        <p:nvSpPr>
          <p:cNvPr id="5" name="文本框 4"/>
          <p:cNvSpPr txBox="1"/>
          <p:nvPr/>
        </p:nvSpPr>
        <p:spPr>
          <a:xfrm>
            <a:off x="6579235" y="5993130"/>
            <a:ext cx="5387975" cy="645160"/>
          </a:xfrm>
          <a:prstGeom prst="rect">
            <a:avLst/>
          </a:prstGeom>
          <a:noFill/>
        </p:spPr>
        <p:txBody>
          <a:bodyPr wrap="square" rtlCol="0">
            <a:spAutoFit/>
          </a:bodyPr>
          <a:lstStyle/>
          <a:p>
            <a:r>
              <a:rPr kumimoji="1" lang="en-US" altLang="zh-CN" b="1" dirty="0"/>
              <a:t>(b) Compared</a:t>
            </a:r>
            <a:r>
              <a:rPr kumimoji="1" lang="zh-CN" altLang="en-US" b="1" dirty="0"/>
              <a:t> </a:t>
            </a:r>
            <a:r>
              <a:rPr kumimoji="1" lang="en-US" altLang="zh-CN" b="1" dirty="0"/>
              <a:t>method: </a:t>
            </a:r>
          </a:p>
          <a:p>
            <a:r>
              <a:rPr kumimoji="1" lang="en-US" altLang="zh-CN" b="1" dirty="0"/>
              <a:t>power disaggregated with the same proportion</a:t>
            </a:r>
            <a:endParaRPr kumimoji="1" lang="zh-CN" altLang="en-US" b="1" dirty="0"/>
          </a:p>
        </p:txBody>
      </p:sp>
      <p:sp>
        <p:nvSpPr>
          <p:cNvPr id="175" name="文本框 174"/>
          <p:cNvSpPr txBox="1"/>
          <p:nvPr/>
        </p:nvSpPr>
        <p:spPr>
          <a:xfrm>
            <a:off x="1006475" y="175260"/>
            <a:ext cx="10538460" cy="645160"/>
          </a:xfrm>
          <a:prstGeom prst="rect">
            <a:avLst/>
          </a:prstGeom>
          <a:noFill/>
        </p:spPr>
        <p:txBody>
          <a:bodyPr wrap="square" rtlCol="0">
            <a:spAutoFit/>
          </a:bodyPr>
          <a:lstStyle/>
          <a:p>
            <a:pPr lvl="0">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rPr>
              <a:t>4-Optimization with Heterogeneous Resources</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图片 168"/>
          <p:cNvPicPr>
            <a:picLocks noChangeAspect="1"/>
          </p:cNvPicPr>
          <p:nvPr/>
        </p:nvPicPr>
        <p:blipFill rotWithShape="1">
          <a:blip r:embed="rId3" cstate="screen"/>
          <a:srcRect r="-28"/>
          <a:stretch>
            <a:fillRect/>
          </a:stretch>
        </p:blipFill>
        <p:spPr>
          <a:xfrm flipH="1">
            <a:off x="5598767" y="-1"/>
            <a:ext cx="3326355" cy="995307"/>
          </a:xfrm>
          <a:prstGeom prst="rect">
            <a:avLst/>
          </a:prstGeom>
        </p:spPr>
      </p:pic>
      <p:pic>
        <p:nvPicPr>
          <p:cNvPr id="15" name="图片 14"/>
          <p:cNvPicPr>
            <a:picLocks noChangeAspect="1"/>
          </p:cNvPicPr>
          <p:nvPr/>
        </p:nvPicPr>
        <p:blipFill rotWithShape="1">
          <a:blip r:embed="rId4" cstate="screen"/>
          <a:srcRect/>
          <a:stretch>
            <a:fillRect/>
          </a:stretch>
        </p:blipFill>
        <p:spPr>
          <a:xfrm>
            <a:off x="8890933" y="0"/>
            <a:ext cx="3326355" cy="973859"/>
          </a:xfrm>
          <a:prstGeom prst="rect">
            <a:avLst/>
          </a:prstGeom>
        </p:spPr>
      </p:pic>
      <p:sp>
        <p:nvSpPr>
          <p:cNvPr id="78" name="矩形 77"/>
          <p:cNvSpPr/>
          <p:nvPr/>
        </p:nvSpPr>
        <p:spPr>
          <a:xfrm>
            <a:off x="0" y="0"/>
            <a:ext cx="12217288" cy="995306"/>
          </a:xfrm>
          <a:prstGeom prst="rect">
            <a:avLst/>
          </a:prstGeom>
          <a:gradFill flip="none" rotWithShape="1">
            <a:gsLst>
              <a:gs pos="54501">
                <a:srgbClr val="580C6E"/>
              </a:gs>
              <a:gs pos="73000">
                <a:srgbClr val="61106A">
                  <a:alpha val="90000"/>
                </a:srgbClr>
              </a:gs>
              <a:gs pos="84000">
                <a:srgbClr val="952064">
                  <a:alpha val="46000"/>
                </a:srgbClr>
              </a:gs>
              <a:gs pos="34845">
                <a:srgbClr val="580C6E"/>
              </a:gs>
              <a:gs pos="0">
                <a:srgbClr val="580C6E">
                  <a:lumMod val="100000"/>
                </a:srgbClr>
              </a:gs>
              <a:gs pos="100000">
                <a:srgbClr val="AC276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pic>
        <p:nvPicPr>
          <p:cNvPr id="170" name="图片 169"/>
          <p:cNvPicPr>
            <a:picLocks noChangeAspect="1"/>
          </p:cNvPicPr>
          <p:nvPr/>
        </p:nvPicPr>
        <p:blipFill>
          <a:blip r:embed="rId5" cstate="screen">
            <a:lum bright="70000" contrast="-70000"/>
            <a:extLst>
              <a:ext uri="{BEBA8EAE-BF5A-486C-A8C5-ECC9F3942E4B}">
                <a14:imgProps xmlns:a14="http://schemas.microsoft.com/office/drawing/2010/main">
                  <a14:imgLayer r:embed="rId6">
                    <a14:imgEffect>
                      <a14:brightnessContrast bright="12000" contrast="-40000"/>
                    </a14:imgEffect>
                    <a14:imgEffect>
                      <a14:saturation sat="0"/>
                    </a14:imgEffect>
                    <a14:imgEffect>
                      <a14:sharpenSoften amount="-50000"/>
                    </a14:imgEffect>
                  </a14:imgLayer>
                </a14:imgProps>
              </a:ext>
            </a:extLst>
          </a:blip>
          <a:stretch>
            <a:fillRect/>
          </a:stretch>
        </p:blipFill>
        <p:spPr>
          <a:xfrm>
            <a:off x="258641" y="125580"/>
            <a:ext cx="747562" cy="778934"/>
          </a:xfrm>
          <a:prstGeom prst="rect">
            <a:avLst/>
          </a:prstGeom>
          <a:ln>
            <a:solidFill>
              <a:srgbClr val="580C6E"/>
            </a:solidFill>
          </a:ln>
        </p:spPr>
      </p:pic>
      <p:sp>
        <p:nvSpPr>
          <p:cNvPr id="4" name="矩形 3"/>
          <p:cNvSpPr/>
          <p:nvPr/>
        </p:nvSpPr>
        <p:spPr>
          <a:xfrm>
            <a:off x="379095" y="1457960"/>
            <a:ext cx="11478895" cy="1590040"/>
          </a:xfrm>
          <a:prstGeom prst="rect">
            <a:avLst/>
          </a:prstGeom>
          <a:solidFill>
            <a:srgbClr val="F7E4FC"/>
          </a:solidFill>
          <a:ln w="9525">
            <a:noFill/>
            <a:prstDash val="dash"/>
          </a:ln>
          <a:effectLst/>
        </p:spPr>
        <p:txBody>
          <a:bodyPr wrap="square" lIns="144000" tIns="108000" rIns="144000" bIns="108000" anchor="ctr" anchorCtr="0">
            <a:noAutofit/>
          </a:bodyPr>
          <a:lstStyle/>
          <a:p>
            <a:pPr algn="just" hangingPunct="0">
              <a:lnSpc>
                <a:spcPct val="150000"/>
              </a:lnSpc>
              <a:buClr>
                <a:prstClr val="white">
                  <a:lumMod val="50000"/>
                </a:prstClr>
              </a:buClr>
              <a:buSzPct val="80000"/>
            </a:pPr>
            <a:r>
              <a:rPr lang="en-US" altLang="zh-CN" sz="2000" b="1" kern="0" dirty="0"/>
              <a:t>Results</a:t>
            </a:r>
            <a:r>
              <a:rPr lang="en-US" altLang="zh-CN" sz="2000" kern="0" dirty="0"/>
              <a:t>: Achieving </a:t>
            </a:r>
            <a:r>
              <a:rPr lang="en-US" altLang="zh-CN" sz="2000" b="1" kern="0" dirty="0"/>
              <a:t>real-time control optimization </a:t>
            </a:r>
            <a:r>
              <a:rPr lang="en-US" altLang="zh-CN" sz="2000" kern="0" dirty="0"/>
              <a:t>of thousands of different types of resources (including industrial production processes) within </a:t>
            </a:r>
            <a:r>
              <a:rPr lang="en-US" altLang="zh-CN" sz="2000" b="1" kern="0" dirty="0">
                <a:solidFill>
                  <a:srgbClr val="7030A0"/>
                </a:solidFill>
              </a:rPr>
              <a:t>a calculation time of less than 1ms</a:t>
            </a:r>
            <a:r>
              <a:rPr lang="en-US" altLang="zh-CN" sz="2000" kern="0" dirty="0"/>
              <a:t>, leading to </a:t>
            </a:r>
            <a:r>
              <a:rPr lang="en-US" altLang="zh-CN" sz="2000" b="1" kern="0" dirty="0">
                <a:solidFill>
                  <a:srgbClr val="7030A0"/>
                </a:solidFill>
              </a:rPr>
              <a:t>a 40% increase in VPP profit in energy &amp; frequency regulation market</a:t>
            </a:r>
            <a:r>
              <a:rPr lang="en-US" altLang="zh-CN" sz="2000" kern="0" dirty="0"/>
              <a:t> under</a:t>
            </a:r>
            <a:r>
              <a:rPr lang="zh-CN" altLang="en-US" sz="2000" kern="0" dirty="0"/>
              <a:t> </a:t>
            </a:r>
            <a:r>
              <a:rPr lang="en-US" altLang="zh-CN" sz="2000" kern="0" dirty="0"/>
              <a:t>typical scenarios.</a:t>
            </a:r>
            <a:endParaRPr lang="zh-CN" altLang="en-US" sz="2000" kern="0" dirty="0"/>
          </a:p>
        </p:txBody>
      </p:sp>
      <p:sp>
        <p:nvSpPr>
          <p:cNvPr id="10" name="灯片编号占位符 1"/>
          <p:cNvSpPr>
            <a:spLocks noGrp="1"/>
          </p:cNvSpPr>
          <p:nvPr>
            <p:ph type="sldNum" sz="quarter" idx="12"/>
          </p:nvPr>
        </p:nvSpPr>
        <p:spPr>
          <a:xfrm>
            <a:off x="9324232" y="6483556"/>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C7EE5D8-6200-46CA-A960-1DA5B550D24A}" type="slidenum">
              <a:rPr kumimoji="0" lang="zh-CN" altLang="en-US" sz="1200" b="0" i="0" u="none" strike="noStrike" kern="1200" cap="none" spc="0" normalizeH="0" baseline="0" noProof="0" smtClean="0">
                <a:ln>
                  <a:noFill/>
                </a:ln>
                <a:solidFill>
                  <a:prstClr val="black">
                    <a:tint val="75000"/>
                  </a:prstClr>
                </a:solidFill>
                <a:effectLst/>
                <a:uLnTx/>
                <a:uFillTx/>
                <a:latin typeface="HelveticaExt-Normal"/>
                <a:ea typeface="OPPOSans B"/>
                <a:cs typeface="+mn-cs"/>
              </a:rPr>
              <a:t>5</a:t>
            </a:fld>
            <a:endParaRPr kumimoji="0" lang="zh-CN" altLang="en-US" sz="1200" b="0" i="0" u="none" strike="noStrike" kern="1200" cap="none" spc="0" normalizeH="0" baseline="0" noProof="0" dirty="0">
              <a:ln>
                <a:noFill/>
              </a:ln>
              <a:solidFill>
                <a:prstClr val="black">
                  <a:tint val="75000"/>
                </a:prstClr>
              </a:solidFill>
              <a:effectLst/>
              <a:uLnTx/>
              <a:uFillTx/>
              <a:latin typeface="HelveticaExt-Normal"/>
              <a:ea typeface="OPPOSans B"/>
              <a:cs typeface="+mn-cs"/>
            </a:endParaRPr>
          </a:p>
        </p:txBody>
      </p:sp>
      <p:pic>
        <p:nvPicPr>
          <p:cNvPr id="2" name="图片 1"/>
          <p:cNvPicPr>
            <a:picLocks noChangeAspect="1"/>
          </p:cNvPicPr>
          <p:nvPr/>
        </p:nvPicPr>
        <p:blipFill>
          <a:blip r:embed="rId7"/>
          <a:stretch>
            <a:fillRect/>
          </a:stretch>
        </p:blipFill>
        <p:spPr>
          <a:xfrm>
            <a:off x="5461793" y="3527626"/>
            <a:ext cx="6396241" cy="2425744"/>
          </a:xfrm>
          <a:prstGeom prst="rect">
            <a:avLst/>
          </a:prstGeom>
        </p:spPr>
      </p:pic>
      <p:pic>
        <p:nvPicPr>
          <p:cNvPr id="5" name="图片 4"/>
          <p:cNvPicPr>
            <a:picLocks noChangeAspect="1"/>
          </p:cNvPicPr>
          <p:nvPr/>
        </p:nvPicPr>
        <p:blipFill>
          <a:blip r:embed="rId8"/>
          <a:stretch>
            <a:fillRect/>
          </a:stretch>
        </p:blipFill>
        <p:spPr>
          <a:xfrm>
            <a:off x="1354619" y="3510452"/>
            <a:ext cx="4026935" cy="2460091"/>
          </a:xfrm>
          <a:prstGeom prst="rect">
            <a:avLst/>
          </a:prstGeom>
        </p:spPr>
      </p:pic>
      <p:sp>
        <p:nvSpPr>
          <p:cNvPr id="6" name="文本框 5"/>
          <p:cNvSpPr txBox="1"/>
          <p:nvPr/>
        </p:nvSpPr>
        <p:spPr>
          <a:xfrm>
            <a:off x="86720" y="4555831"/>
            <a:ext cx="1501223" cy="646331"/>
          </a:xfrm>
          <a:prstGeom prst="rect">
            <a:avLst/>
          </a:prstGeom>
          <a:noFill/>
        </p:spPr>
        <p:txBody>
          <a:bodyPr wrap="square" rtlCol="0">
            <a:spAutoFit/>
          </a:bodyPr>
          <a:lstStyle/>
          <a:p>
            <a:pPr algn="ctr"/>
            <a:r>
              <a:rPr lang="en-US" altLang="zh-CN" dirty="0"/>
              <a:t>calculation time </a:t>
            </a:r>
            <a:endParaRPr lang="zh-CN" altLang="en-US" dirty="0"/>
          </a:p>
        </p:txBody>
      </p:sp>
      <p:sp>
        <p:nvSpPr>
          <p:cNvPr id="7" name="箭头: 下 6"/>
          <p:cNvSpPr/>
          <p:nvPr/>
        </p:nvSpPr>
        <p:spPr>
          <a:xfrm>
            <a:off x="4236097" y="4202572"/>
            <a:ext cx="186612" cy="353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p:cNvSpPr/>
          <p:nvPr/>
        </p:nvSpPr>
        <p:spPr>
          <a:xfrm>
            <a:off x="4236097" y="4774098"/>
            <a:ext cx="186612" cy="3532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587943" y="5118026"/>
            <a:ext cx="278179" cy="176228"/>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8" name="矩形 17"/>
          <p:cNvSpPr/>
          <p:nvPr/>
        </p:nvSpPr>
        <p:spPr>
          <a:xfrm>
            <a:off x="5795382" y="5340335"/>
            <a:ext cx="5911182" cy="435039"/>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28398" y="6359705"/>
            <a:ext cx="11333089" cy="521970"/>
          </a:xfrm>
          <a:prstGeom prst="rect">
            <a:avLst/>
          </a:prstGeom>
          <a:noFill/>
        </p:spPr>
        <p:txBody>
          <a:bodyPr wrap="square">
            <a:spAutoFit/>
          </a:bodyPr>
          <a:lstStyle/>
          <a:p>
            <a:pPr marL="285750" indent="-285750">
              <a:buFont typeface="Arial" panose="020B0604020202020204" pitchFamily="34" charset="0"/>
              <a:buChar char="•"/>
            </a:pPr>
            <a:r>
              <a:rPr sz="1400"/>
              <a:t>Qixin Chen, Ruike Lyu, Hongye Guo, and Xiangbo Su. "Real-Time Operation Strategy of Virtual Power Plants With Optimal Power Disaggregation Among Heterogeneous Resources." Applied Energy 361 (2024): 122876.</a:t>
            </a:r>
          </a:p>
        </p:txBody>
      </p:sp>
      <p:sp>
        <p:nvSpPr>
          <p:cNvPr id="175" name="文本框 174"/>
          <p:cNvSpPr txBox="1"/>
          <p:nvPr/>
        </p:nvSpPr>
        <p:spPr>
          <a:xfrm>
            <a:off x="1006475" y="175260"/>
            <a:ext cx="10538460" cy="645160"/>
          </a:xfrm>
          <a:prstGeom prst="rect">
            <a:avLst/>
          </a:prstGeom>
          <a:noFill/>
        </p:spPr>
        <p:txBody>
          <a:bodyPr wrap="square" rtlCol="0">
            <a:spAutoFit/>
          </a:bodyPr>
          <a:lstStyle/>
          <a:p>
            <a:pPr lvl="0">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sym typeface="+mn-lt"/>
              </a:rPr>
              <a:t>4-Optimization with Heterogeneous Resources</a:t>
            </a:r>
          </a:p>
        </p:txBody>
      </p:sp>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Q4OWZmMjljYWRjNWNhMjQ1MWQ3MDhiNjVkOWI3NT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ficlwo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ficlwo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TotalTime>
  <Words>583</Words>
  <Application>Microsoft Macintosh PowerPoint</Application>
  <PresentationFormat>宽屏</PresentationFormat>
  <Paragraphs>52</Paragraphs>
  <Slides>5</Slides>
  <Notes>5</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5</vt:i4>
      </vt:variant>
    </vt:vector>
  </HeadingPairs>
  <TitlesOfParts>
    <vt:vector size="16" baseType="lpstr">
      <vt:lpstr>等线</vt:lpstr>
      <vt:lpstr>微软雅黑</vt:lpstr>
      <vt:lpstr>HelveticaExt-Normal</vt:lpstr>
      <vt:lpstr>OPPOSans B</vt:lpstr>
      <vt:lpstr>Arial</vt:lpstr>
      <vt:lpstr>Calibri</vt:lpstr>
      <vt:lpstr>Cambria Math</vt:lpstr>
      <vt:lpstr>Times New Roman</vt:lpstr>
      <vt:lpstr>自定义设计方案</vt:lpstr>
      <vt:lpstr>1_自定义设计方案</vt:lpstr>
      <vt:lpstr>Equation</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3528571680@qq.com</dc:creator>
  <cp:lastModifiedBy>Ruike Lyu</cp:lastModifiedBy>
  <cp:revision>942</cp:revision>
  <dcterms:created xsi:type="dcterms:W3CDTF">2021-04-05T08:53:00Z</dcterms:created>
  <dcterms:modified xsi:type="dcterms:W3CDTF">2025-03-15T15:43:26Z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C7C97046E7834EF780E5626254A5E149_13</vt:lpwstr>
  </property>
  <property fmtid="{D5CDD505-2E9C-101B-9397-08002B2CF9AE}" pid="3" name="KSOProductBuildVer">
    <vt:lpwstr>2052-12.1.0.17147</vt:lpwstr>
  </property>
</Properties>
</file>